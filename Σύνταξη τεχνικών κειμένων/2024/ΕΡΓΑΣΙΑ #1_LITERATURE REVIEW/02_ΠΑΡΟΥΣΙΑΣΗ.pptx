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15" r:id="rId2"/>
    <p:sldId id="316" r:id="rId3"/>
    <p:sldId id="314" r:id="rId4"/>
    <p:sldId id="265" r:id="rId5"/>
    <p:sldId id="271" r:id="rId6"/>
    <p:sldId id="266" r:id="rId7"/>
    <p:sldId id="269" r:id="rId8"/>
    <p:sldId id="270" r:id="rId9"/>
    <p:sldId id="273" r:id="rId10"/>
    <p:sldId id="275" r:id="rId11"/>
    <p:sldId id="274" r:id="rId12"/>
    <p:sldId id="291" r:id="rId13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56030" autoAdjust="0"/>
  </p:normalViewPr>
  <p:slideViewPr>
    <p:cSldViewPr snapToGrid="0">
      <p:cViewPr varScale="1">
        <p:scale>
          <a:sx n="44" d="100"/>
          <a:sy n="44" d="100"/>
        </p:scale>
        <p:origin x="2117" y="62"/>
      </p:cViewPr>
      <p:guideLst/>
    </p:cSldViewPr>
  </p:slideViewPr>
  <p:outlineViewPr>
    <p:cViewPr>
      <p:scale>
        <a:sx n="33" d="100"/>
        <a:sy n="33" d="100"/>
      </p:scale>
      <p:origin x="0" y="-210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3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A5EB7-A397-428E-BF56-D90D0B7BFCEF}" type="datetimeFigureOut">
              <a:rPr lang="el-GR" smtClean="0"/>
              <a:t>6/4/2023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ACC07-B93E-4582-9047-7A1496519C5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9219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l-GR" altLang="en-US" sz="1100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l-GR" altLang="en-US" sz="1100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79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l-GR" altLang="en-US" sz="1100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l-GR" altLang="en-US" sz="1100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496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Clr>
                <a:srgbClr val="C7D3E6"/>
              </a:buClr>
              <a:buSzTx/>
              <a:buFont typeface="Roboto Condensed Light" charset="0"/>
              <a:buNone/>
              <a:tabLst/>
              <a:defRPr/>
            </a:pPr>
            <a:endParaRPr lang="en-US" altLang="en-US" sz="1100" b="1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764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ACC07-B93E-4582-9047-7A1496519C5E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6674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Στυλ κύριου υπότιτλου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0F64-AA0D-4416-9B48-DAF87F497ECD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21362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132CE-0811-461B-8D6C-707A9CF228A7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189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61796-7A73-48D3-BB5E-D9CFDB4282FF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802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EF7C-E56A-441E-8483-93D06B935F7B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6271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582AE-CEA8-40F4-8855-75D0CB9A5184}" type="datetime1">
              <a:rPr lang="el-GR" smtClean="0"/>
              <a:t>6/4/2023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11330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61FF-988B-4917-BCEF-B7B848E5D201}" type="datetime1">
              <a:rPr lang="el-GR" smtClean="0"/>
              <a:t>6/4/2023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562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3366A-2393-40BC-83E2-E0A531121EBF}" type="datetime1">
              <a:rPr lang="el-GR" smtClean="0"/>
              <a:t>6/4/2023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05235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0A0BA-7AD0-4595-ADE7-01B2DEAF199A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2898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1810D-3A53-4D4B-BB13-D03CC4FFA4C5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4563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D3603-60FC-4BCF-9E2C-590E4B70242E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3582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07CF6-0963-40DA-9FC6-8826F6F021A4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5335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576F-9554-43A6-B100-44F17205A946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18236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E5381-C281-49BD-86E4-870F2FA45B8B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6504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l-GR"/>
              <a:t>Στυλ υποδείγματος κειμένου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7CFA-20B7-4C5E-87CD-A6BD720605B1}" type="datetime1">
              <a:rPr lang="el-GR" smtClean="0"/>
              <a:t>6/4/2023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9571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DCDB5-C2D1-4C1D-AF2C-4E6C3A8F9960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51596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C8C9E-3B73-4BDE-BFBD-DBE792D4049B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4652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hape 62">
            <a:extLst>
              <a:ext uri="{FF2B5EF4-FFF2-40B4-BE49-F238E27FC236}">
                <a16:creationId xmlns:a16="http://schemas.microsoft.com/office/drawing/2014/main" id="{DAA8AE66-B9AE-D79E-58EE-91C2BABCB9D9}"/>
              </a:ext>
            </a:extLst>
          </p:cNvPr>
          <p:cNvGrpSpPr>
            <a:grpSpLocks/>
          </p:cNvGrpSpPr>
          <p:nvPr/>
        </p:nvGrpSpPr>
        <p:grpSpPr bwMode="auto">
          <a:xfrm>
            <a:off x="1" y="0"/>
            <a:ext cx="9429751" cy="1769533"/>
            <a:chOff x="-4" y="40"/>
            <a:chExt cx="7072430" cy="1327315"/>
          </a:xfrm>
        </p:grpSpPr>
        <p:sp>
          <p:nvSpPr>
            <p:cNvPr id="3" name="Shape 63">
              <a:extLst>
                <a:ext uri="{FF2B5EF4-FFF2-40B4-BE49-F238E27FC236}">
                  <a16:creationId xmlns:a16="http://schemas.microsoft.com/office/drawing/2014/main" id="{BBF291D8-EAA1-FD34-FFFC-0814D941E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2950" y="127056"/>
              <a:ext cx="779476" cy="258795"/>
            </a:xfrm>
            <a:prstGeom prst="triangle">
              <a:avLst>
                <a:gd name="adj" fmla="val 32426"/>
              </a:avLst>
            </a:prstGeom>
            <a:solidFill>
              <a:srgbClr val="2632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67">
                <a:latin typeface="Arvo" charset="0"/>
                <a:sym typeface="Arvo" charset="0"/>
              </a:endParaRPr>
            </a:p>
          </p:txBody>
        </p:sp>
        <p:grpSp>
          <p:nvGrpSpPr>
            <p:cNvPr id="4" name="Shape 64">
              <a:extLst>
                <a:ext uri="{FF2B5EF4-FFF2-40B4-BE49-F238E27FC236}">
                  <a16:creationId xmlns:a16="http://schemas.microsoft.com/office/drawing/2014/main" id="{02440281-C71A-41EE-BCFF-BE461F837E2F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" name="Shape 65">
                <a:extLst>
                  <a:ext uri="{FF2B5EF4-FFF2-40B4-BE49-F238E27FC236}">
                    <a16:creationId xmlns:a16="http://schemas.microsoft.com/office/drawing/2014/main" id="{4368F057-4EDC-67AC-8C25-8697A3FC4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206769" y="368699"/>
                <a:ext cx="6957878" cy="1699507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>
                  <a:latin typeface="Arvo" charset="0"/>
                  <a:sym typeface="Arvo" charset="0"/>
                </a:endParaRPr>
              </a:p>
            </p:txBody>
          </p:sp>
          <p:sp>
            <p:nvSpPr>
              <p:cNvPr id="9" name="Shape 66">
                <a:extLst>
                  <a:ext uri="{FF2B5EF4-FFF2-40B4-BE49-F238E27FC236}">
                    <a16:creationId xmlns:a16="http://schemas.microsoft.com/office/drawing/2014/main" id="{DFB28719-F0BE-7F49-4FCB-C213850F8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3633" y="330075"/>
                <a:ext cx="1699324" cy="1699506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>
                  <a:latin typeface="Arvo" charset="0"/>
                  <a:sym typeface="Arvo" charset="0"/>
                </a:endParaRPr>
              </a:p>
            </p:txBody>
          </p:sp>
        </p:grpSp>
        <p:grpSp>
          <p:nvGrpSpPr>
            <p:cNvPr id="5" name="Shape 67">
              <a:extLst>
                <a:ext uri="{FF2B5EF4-FFF2-40B4-BE49-F238E27FC236}">
                  <a16:creationId xmlns:a16="http://schemas.microsoft.com/office/drawing/2014/main" id="{71553570-C3A8-F8AD-2AF6-7BDFAB6C0BDC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" name="Shape 68">
                <a:extLst>
                  <a:ext uri="{FF2B5EF4-FFF2-40B4-BE49-F238E27FC236}">
                    <a16:creationId xmlns:a16="http://schemas.microsoft.com/office/drawing/2014/main" id="{17CA9A2F-2AC4-037E-22C0-D1794F869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092084" y="396599"/>
                <a:ext cx="13882553" cy="169923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>
                  <a:latin typeface="Arvo" charset="0"/>
                  <a:sym typeface="Arvo" charset="0"/>
                </a:endParaRPr>
              </a:p>
            </p:txBody>
          </p:sp>
          <p:sp>
            <p:nvSpPr>
              <p:cNvPr id="7" name="Shape 69">
                <a:extLst>
                  <a:ext uri="{FF2B5EF4-FFF2-40B4-BE49-F238E27FC236}">
                    <a16:creationId xmlns:a16="http://schemas.microsoft.com/office/drawing/2014/main" id="{4C8B5C39-EE3B-A0BD-0BF3-255F8F260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9899" y="330170"/>
                <a:ext cx="1699048" cy="169923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>
                  <a:latin typeface="Arvo" charset="0"/>
                  <a:sym typeface="Arvo" charset="0"/>
                </a:endParaRPr>
              </a:p>
            </p:txBody>
          </p:sp>
        </p:grpSp>
      </p:grpSp>
      <p:grpSp>
        <p:nvGrpSpPr>
          <p:cNvPr id="10" name="Shape 70">
            <a:extLst>
              <a:ext uri="{FF2B5EF4-FFF2-40B4-BE49-F238E27FC236}">
                <a16:creationId xmlns:a16="http://schemas.microsoft.com/office/drawing/2014/main" id="{B7AE9505-5978-A397-90BE-4782F7D6B038}"/>
              </a:ext>
            </a:extLst>
          </p:cNvPr>
          <p:cNvGrpSpPr>
            <a:grpSpLocks/>
          </p:cNvGrpSpPr>
          <p:nvPr/>
        </p:nvGrpSpPr>
        <p:grpSpPr bwMode="auto">
          <a:xfrm>
            <a:off x="9262534" y="5962651"/>
            <a:ext cx="2937933" cy="895349"/>
            <a:chOff x="5575242" y="4472723"/>
            <a:chExt cx="2202830" cy="670795"/>
          </a:xfrm>
        </p:grpSpPr>
        <p:sp>
          <p:nvSpPr>
            <p:cNvPr id="11" name="Shape 71">
              <a:extLst>
                <a:ext uri="{FF2B5EF4-FFF2-40B4-BE49-F238E27FC236}">
                  <a16:creationId xmlns:a16="http://schemas.microsoft.com/office/drawing/2014/main" id="{9BAECF6C-E992-320C-2279-7F5C60CD33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575242" y="4948464"/>
              <a:ext cx="393589" cy="131621"/>
            </a:xfrm>
            <a:prstGeom prst="triangle">
              <a:avLst>
                <a:gd name="adj" fmla="val 32426"/>
              </a:avLst>
            </a:prstGeom>
            <a:solidFill>
              <a:srgbClr val="D26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>
              <a:lvl1pPr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1867"/>
            </a:p>
          </p:txBody>
        </p:sp>
        <p:grpSp>
          <p:nvGrpSpPr>
            <p:cNvPr id="12" name="Shape 72">
              <a:extLst>
                <a:ext uri="{FF2B5EF4-FFF2-40B4-BE49-F238E27FC236}">
                  <a16:creationId xmlns:a16="http://schemas.microsoft.com/office/drawing/2014/main" id="{4A2E17E5-5B2F-6431-0BFB-6C656736432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" name="Shape 73">
                <a:extLst>
                  <a:ext uri="{FF2B5EF4-FFF2-40B4-BE49-F238E27FC236}">
                    <a16:creationId xmlns:a16="http://schemas.microsoft.com/office/drawing/2014/main" id="{B45909A1-32B2-6BD9-C225-5E2480915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952" y="330075"/>
                <a:ext cx="3473187" cy="1699506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/>
              </a:p>
            </p:txBody>
          </p:sp>
          <p:sp>
            <p:nvSpPr>
              <p:cNvPr id="17" name="Shape 74">
                <a:extLst>
                  <a:ext uri="{FF2B5EF4-FFF2-40B4-BE49-F238E27FC236}">
                    <a16:creationId xmlns:a16="http://schemas.microsoft.com/office/drawing/2014/main" id="{8BAE2016-37E5-F9FC-7B11-87D60C21B0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9118" y="330075"/>
                <a:ext cx="1696395" cy="1699506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/>
              </a:p>
            </p:txBody>
          </p:sp>
        </p:grpSp>
        <p:grpSp>
          <p:nvGrpSpPr>
            <p:cNvPr id="13" name="Shape 75">
              <a:extLst>
                <a:ext uri="{FF2B5EF4-FFF2-40B4-BE49-F238E27FC236}">
                  <a16:creationId xmlns:a16="http://schemas.microsoft.com/office/drawing/2014/main" id="{14355E75-EAE4-589B-88E3-0AAE905B9CF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4" name="Shape 76">
                <a:extLst>
                  <a:ext uri="{FF2B5EF4-FFF2-40B4-BE49-F238E27FC236}">
                    <a16:creationId xmlns:a16="http://schemas.microsoft.com/office/drawing/2014/main" id="{18B5F373-CD8B-43C1-E153-5A1815AA6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5827153" y="332439"/>
                <a:ext cx="10609875" cy="1699073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/>
              </a:p>
            </p:txBody>
          </p:sp>
          <p:sp>
            <p:nvSpPr>
              <p:cNvPr id="15" name="Shape 77">
                <a:extLst>
                  <a:ext uri="{FF2B5EF4-FFF2-40B4-BE49-F238E27FC236}">
                    <a16:creationId xmlns:a16="http://schemas.microsoft.com/office/drawing/2014/main" id="{4BF96BEB-EC85-897D-D5FE-C5482475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7297" y="332439"/>
                <a:ext cx="1700414" cy="1699073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25" tIns="91425" rIns="91425" bIns="91425" anchor="ctr"/>
              <a:lstStyle>
                <a:lvl1pPr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1pPr>
                <a:lvl2pPr marL="742950" indent="-28575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2pPr>
                <a:lvl3pPr marL="11430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3pPr>
                <a:lvl4pPr marL="16002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4pPr>
                <a:lvl5pPr marL="2057400" indent="-228600"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1867"/>
              </a:p>
            </p:txBody>
          </p:sp>
        </p:grpSp>
      </p:grpSp>
      <p:sp>
        <p:nvSpPr>
          <p:cNvPr id="78" name="Shape 78"/>
          <p:cNvSpPr txBox="1">
            <a:spLocks noGrp="1"/>
          </p:cNvSpPr>
          <p:nvPr>
            <p:ph type="title"/>
          </p:nvPr>
        </p:nvSpPr>
        <p:spPr>
          <a:xfrm>
            <a:off x="1085700" y="523433"/>
            <a:ext cx="7323200" cy="10216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1085700" y="1769800"/>
            <a:ext cx="8176800" cy="41940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80">
            <a:extLst>
              <a:ext uri="{FF2B5EF4-FFF2-40B4-BE49-F238E27FC236}">
                <a16:creationId xmlns:a16="http://schemas.microsoft.com/office/drawing/2014/main" id="{74444006-B8A6-CB41-854F-3D810DA68F95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/>
        <p:txBody>
          <a:bodyPr/>
          <a:lstStyle>
            <a:lvl1pPr algn="l">
              <a:defRPr sz="1867" b="0" smtClean="0">
                <a:solidFill>
                  <a:srgbClr val="000000"/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C76AFBEC-F426-4C38-9A2F-B1980AC40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61749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Στυλ κύριου τίτλου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BB07CB-FCF7-4F5A-86BB-2D87CEE8AD26}" type="datetime1">
              <a:rPr lang="el-GR" smtClean="0"/>
              <a:t>6/4/2023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60EA92E-C71D-4A70-BB66-BE7F3D77BB9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869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- Τίτλος">
            <a:extLst>
              <a:ext uri="{FF2B5EF4-FFF2-40B4-BE49-F238E27FC236}">
                <a16:creationId xmlns:a16="http://schemas.microsoft.com/office/drawing/2014/main" id="{434DA50D-9BA1-8850-5B20-CB428E68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851" y="522818"/>
            <a:ext cx="7323667" cy="1022349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Clr>
                <a:srgbClr val="FFFFFF"/>
              </a:buClr>
              <a:buFont typeface="Roboto Condensed" charset="0"/>
              <a:buNone/>
            </a:pPr>
            <a:r>
              <a:rPr lang="el-GR" altLang="en-US" sz="2667" b="1" dirty="0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rPr>
              <a:t>Ανασκόπηση στην βιβλιογραφία </a:t>
            </a:r>
            <a:br>
              <a:rPr lang="en-US" altLang="en-US" sz="2667" b="1" dirty="0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rPr>
            </a:br>
            <a:r>
              <a:rPr lang="en-US" altLang="en-US" sz="2667" b="1" dirty="0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rPr>
              <a:t>Systematic Literature Review</a:t>
            </a:r>
          </a:p>
        </p:txBody>
      </p:sp>
      <p:sp>
        <p:nvSpPr>
          <p:cNvPr id="28675" name="2 - Θέση κειμένου">
            <a:extLst>
              <a:ext uri="{FF2B5EF4-FFF2-40B4-BE49-F238E27FC236}">
                <a16:creationId xmlns:a16="http://schemas.microsoft.com/office/drawing/2014/main" id="{BE4480A5-65FF-024E-8B78-42E2EFE0C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2108200"/>
            <a:ext cx="6705600" cy="44704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n-US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Αναζήτηση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συστημάτων εξάσκησης της χωρικής ικανότητας με στοιχεία επαυξημένης πραγματικότητας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που έχουν αναπτυχθεί από το 2010 μέχρι 2022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n-US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Αριθμός ερευνών: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40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n-US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Κύριο κριτήριο επιλογής: το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κύρος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- η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εγκυρότητα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των μηχανών αναζήτησης που χρησιμοποιήθηκαν</a:t>
            </a:r>
            <a:endParaRPr lang="en-US" altLang="en-US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sz="1800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Μηχανές αναζήτησης </a:t>
            </a:r>
            <a:r>
              <a:rPr lang="el-GR" altLang="en-US" sz="1800" b="1" dirty="0" err="1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Scopus</a:t>
            </a:r>
            <a:r>
              <a:rPr lang="el-GR" altLang="en-US" sz="1800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</a:t>
            </a:r>
            <a:r>
              <a:rPr lang="el-GR" altLang="en-US" sz="1800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και </a:t>
            </a:r>
            <a:r>
              <a:rPr lang="en-US" altLang="en-US" sz="1800" b="1" dirty="0" err="1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GoogleScholar</a:t>
            </a:r>
            <a:r>
              <a:rPr lang="el-GR" altLang="en-US" sz="1800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: οι μεγαλύτερες παγκόσμιες βάσεις δεδομένων ερευνητικών άρθρων. Χρησιμοποιήθηκαν ως οι πλέον έγκυρες μηχανές αναζήτησης για ερευνητικές εργασίες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n-US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72.50%</a:t>
            </a:r>
            <a:r>
              <a:rPr lang="en-US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των ερευνών έχουν δημοσιευτεί σε διεθνή περιοδικά ενώ τα υπόλοιπα σε διεθνή συνέδρια και τόμους βιβλίων</a:t>
            </a:r>
          </a:p>
        </p:txBody>
      </p:sp>
      <p:sp>
        <p:nvSpPr>
          <p:cNvPr id="28676" name="3 - Θέση αριθμού διαφάνειας">
            <a:extLst>
              <a:ext uri="{FF2B5EF4-FFF2-40B4-BE49-F238E27FC236}">
                <a16:creationId xmlns:a16="http://schemas.microsoft.com/office/drawing/2014/main" id="{73964D1A-7E0D-073C-1526-3F9995422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990575" indent="-380990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23962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33547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43131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E25547DA-0D31-45AA-8E03-6DCCBDFDF2F1}" type="slidenum">
              <a:rPr lang="en-US" altLang="en-US"/>
              <a:pPr/>
              <a:t>1</a:t>
            </a:fld>
            <a:endParaRPr lang="en-US" altLang="en-US"/>
          </a:p>
        </p:txBody>
      </p:sp>
      <p:graphicFrame>
        <p:nvGraphicFramePr>
          <p:cNvPr id="5" name="4 - Πίνακας">
            <a:extLst>
              <a:ext uri="{FF2B5EF4-FFF2-40B4-BE49-F238E27FC236}">
                <a16:creationId xmlns:a16="http://schemas.microsoft.com/office/drawing/2014/main" id="{79A98B84-8C7C-C285-99E6-FCBD0EDFE2BD}"/>
              </a:ext>
            </a:extLst>
          </p:cNvPr>
          <p:cNvGraphicFramePr>
            <a:graphicFrameLocks noGrp="1"/>
          </p:cNvGraphicFramePr>
          <p:nvPr/>
        </p:nvGraphicFramePr>
        <p:xfrm>
          <a:off x="8296000" y="2553000"/>
          <a:ext cx="2880000" cy="2597095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92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525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b="1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Publication type</a:t>
                      </a:r>
                      <a:endParaRPr lang="en-US" sz="1900" dirty="0">
                        <a:latin typeface="Roboto Condensed Light" panose="02000000000000000000" pitchFamily="2" charset="0"/>
                        <a:ea typeface="Roboto Condensed Light" panose="02000000000000000000" pitchFamily="2" charset="0"/>
                        <a:cs typeface="Roboto Condensed Light" panose="02000000000000000000" pitchFamily="2" charset="0"/>
                      </a:endParaRPr>
                    </a:p>
                  </a:txBody>
                  <a:tcPr marL="117868" marR="11786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b="1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Total</a:t>
                      </a:r>
                      <a:endParaRPr lang="en-US" sz="1900" dirty="0">
                        <a:latin typeface="Roboto Condensed Light" panose="02000000000000000000" pitchFamily="2" charset="0"/>
                        <a:ea typeface="Roboto Condensed Light" panose="02000000000000000000" pitchFamily="2" charset="0"/>
                        <a:cs typeface="Roboto Condensed Light" panose="02000000000000000000" pitchFamily="2" charset="0"/>
                      </a:endParaRPr>
                    </a:p>
                  </a:txBody>
                  <a:tcPr marL="117868" marR="11786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9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Journal</a:t>
                      </a:r>
                      <a:r>
                        <a:rPr lang="el-GR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 </a:t>
                      </a: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papers</a:t>
                      </a:r>
                    </a:p>
                  </a:txBody>
                  <a:tcPr marL="117868" marR="117868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29</a:t>
                      </a:r>
                    </a:p>
                  </a:txBody>
                  <a:tcPr marL="117868" marR="11786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75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Book Chapters</a:t>
                      </a:r>
                    </a:p>
                  </a:txBody>
                  <a:tcPr marL="117868" marR="117868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3</a:t>
                      </a:r>
                    </a:p>
                  </a:txBody>
                  <a:tcPr marL="117868" marR="11786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9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Conference papers</a:t>
                      </a:r>
                    </a:p>
                  </a:txBody>
                  <a:tcPr marL="117868" marR="117868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8</a:t>
                      </a:r>
                    </a:p>
                  </a:txBody>
                  <a:tcPr marL="117868" marR="11786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04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Total</a:t>
                      </a:r>
                    </a:p>
                  </a:txBody>
                  <a:tcPr marL="117868" marR="117868" marT="0" marB="0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900" dirty="0">
                          <a:latin typeface="Roboto Condensed Light" panose="02000000000000000000" pitchFamily="2" charset="0"/>
                          <a:ea typeface="Roboto Condensed Light" panose="02000000000000000000" pitchFamily="2" charset="0"/>
                          <a:cs typeface="Roboto Condensed Light" panose="02000000000000000000" pitchFamily="2" charset="0"/>
                        </a:rPr>
                        <a:t>40</a:t>
                      </a:r>
                    </a:p>
                  </a:txBody>
                  <a:tcPr marL="117868" marR="11786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8711" name="7 - Ομάδα">
            <a:extLst>
              <a:ext uri="{FF2B5EF4-FFF2-40B4-BE49-F238E27FC236}">
                <a16:creationId xmlns:a16="http://schemas.microsoft.com/office/drawing/2014/main" id="{34ECD967-AC33-609E-AEBC-26E9538B2A48}"/>
              </a:ext>
            </a:extLst>
          </p:cNvPr>
          <p:cNvGrpSpPr>
            <a:grpSpLocks/>
          </p:cNvGrpSpPr>
          <p:nvPr/>
        </p:nvGrpSpPr>
        <p:grpSpPr bwMode="auto">
          <a:xfrm>
            <a:off x="9618133" y="0"/>
            <a:ext cx="2573867" cy="1930400"/>
            <a:chOff x="7213601" y="0"/>
            <a:chExt cx="1930399" cy="1447800"/>
          </a:xfrm>
        </p:grpSpPr>
        <p:pic>
          <p:nvPicPr>
            <p:cNvPr id="28712" name="Picture 40" descr="Αποτέλεσμα εικόνας για literature review">
              <a:extLst>
                <a:ext uri="{FF2B5EF4-FFF2-40B4-BE49-F238E27FC236}">
                  <a16:creationId xmlns:a16="http://schemas.microsoft.com/office/drawing/2014/main" id="{5FA3F363-1540-42B1-7F43-303738800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3601" y="0"/>
              <a:ext cx="1930399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6 - Ορθογώνιο">
              <a:extLst>
                <a:ext uri="{FF2B5EF4-FFF2-40B4-BE49-F238E27FC236}">
                  <a16:creationId xmlns:a16="http://schemas.microsoft.com/office/drawing/2014/main" id="{053C042C-17CD-9C9E-842C-E709E8B435E5}"/>
                </a:ext>
              </a:extLst>
            </p:cNvPr>
            <p:cNvSpPr/>
            <p:nvPr/>
          </p:nvSpPr>
          <p:spPr>
            <a:xfrm>
              <a:off x="7467601" y="1047750"/>
              <a:ext cx="1447799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400"/>
            </a:p>
          </p:txBody>
        </p:sp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1 - Τίτλος">
            <a:extLst>
              <a:ext uri="{FF2B5EF4-FFF2-40B4-BE49-F238E27FC236}">
                <a16:creationId xmlns:a16="http://schemas.microsoft.com/office/drawing/2014/main" id="{434DA50D-9BA1-8850-5B20-CB428E68FD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851" y="522818"/>
            <a:ext cx="7323667" cy="1022349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FFFF"/>
              </a:buClr>
              <a:buFont typeface="Roboto Condensed" charset="0"/>
              <a:buNone/>
            </a:pPr>
            <a:r>
              <a:rPr lang="el-GR" altLang="en-US" sz="2667" b="1" dirty="0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rPr>
              <a:t>Ανασκόπηση στην βιβλιογραφία</a:t>
            </a:r>
            <a:endParaRPr lang="en-US" altLang="en-US" sz="2667" b="1" dirty="0">
              <a:solidFill>
                <a:srgbClr val="FFFFFF"/>
              </a:solidFill>
              <a:latin typeface="Roboto Condensed" charset="0"/>
              <a:cs typeface="Arial" panose="020B0604020202020204" pitchFamily="34" charset="0"/>
              <a:sym typeface="Roboto Condensed" charset="0"/>
            </a:endParaRPr>
          </a:p>
        </p:txBody>
      </p:sp>
      <p:sp>
        <p:nvSpPr>
          <p:cNvPr id="28675" name="2 - Θέση κειμένου">
            <a:extLst>
              <a:ext uri="{FF2B5EF4-FFF2-40B4-BE49-F238E27FC236}">
                <a16:creationId xmlns:a16="http://schemas.microsoft.com/office/drawing/2014/main" id="{BE4480A5-65FF-024E-8B78-42E2EFE0C1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599" y="2108200"/>
            <a:ext cx="9008533" cy="44704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None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Η ανασκόπηση της βιβλιογραφίας διεξήχθη με βάση το μοντέλο </a:t>
            </a:r>
            <a:r>
              <a:rPr lang="el-GR" altLang="en-US" dirty="0" err="1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Kitchenham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(2004) σε τρεις φάσεις ως εξής: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1η φάση: ανάπτυξη ενός πρωτοκόλλου ανασκόπησης καθορίζοντας τους στόχους, τη μεθοδολογία και τα αποτελέσματα βασικού ενδιαφέροντος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2η φάση: διεξαγωγή της ανασκόπησης, η οποία περιλαμβάνει την εύρεση ερευνών σχετικές με τα ερευνητικά ερωτήματα, τα κριτήρια συμπερίληψης/απόρριψης και την ανασκόπηση των αποτελεσμάτων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3η φάση: αποτελεί σημαντική φάση καθώς αφορά την επικοινωνία των αποτελεσμάτων </a:t>
            </a:r>
          </a:p>
        </p:txBody>
      </p:sp>
      <p:sp>
        <p:nvSpPr>
          <p:cNvPr id="28676" name="3 - Θέση αριθμού διαφάνειας">
            <a:extLst>
              <a:ext uri="{FF2B5EF4-FFF2-40B4-BE49-F238E27FC236}">
                <a16:creationId xmlns:a16="http://schemas.microsoft.com/office/drawing/2014/main" id="{73964D1A-7E0D-073C-1526-3F9995422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990575" indent="-380990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23962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33547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43131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E25547DA-0D31-45AA-8E03-6DCCBDFDF2F1}" type="slidenum">
              <a:rPr lang="en-US" altLang="en-US"/>
              <a:pPr/>
              <a:t>2</a:t>
            </a:fld>
            <a:endParaRPr lang="en-US" altLang="en-US"/>
          </a:p>
        </p:txBody>
      </p:sp>
      <p:grpSp>
        <p:nvGrpSpPr>
          <p:cNvPr id="28711" name="7 - Ομάδα">
            <a:extLst>
              <a:ext uri="{FF2B5EF4-FFF2-40B4-BE49-F238E27FC236}">
                <a16:creationId xmlns:a16="http://schemas.microsoft.com/office/drawing/2014/main" id="{34ECD967-AC33-609E-AEBC-26E9538B2A48}"/>
              </a:ext>
            </a:extLst>
          </p:cNvPr>
          <p:cNvGrpSpPr>
            <a:grpSpLocks/>
          </p:cNvGrpSpPr>
          <p:nvPr/>
        </p:nvGrpSpPr>
        <p:grpSpPr bwMode="auto">
          <a:xfrm>
            <a:off x="9618133" y="0"/>
            <a:ext cx="2573867" cy="1930400"/>
            <a:chOff x="7213601" y="0"/>
            <a:chExt cx="1930399" cy="1447800"/>
          </a:xfrm>
        </p:grpSpPr>
        <p:pic>
          <p:nvPicPr>
            <p:cNvPr id="28712" name="Picture 40" descr="Αποτέλεσμα εικόνας για literature review">
              <a:extLst>
                <a:ext uri="{FF2B5EF4-FFF2-40B4-BE49-F238E27FC236}">
                  <a16:creationId xmlns:a16="http://schemas.microsoft.com/office/drawing/2014/main" id="{5FA3F363-1540-42B1-7F43-3037388008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3601" y="0"/>
              <a:ext cx="1930399" cy="1447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6 - Ορθογώνιο">
              <a:extLst>
                <a:ext uri="{FF2B5EF4-FFF2-40B4-BE49-F238E27FC236}">
                  <a16:creationId xmlns:a16="http://schemas.microsoft.com/office/drawing/2014/main" id="{053C042C-17CD-9C9E-842C-E709E8B435E5}"/>
                </a:ext>
              </a:extLst>
            </p:cNvPr>
            <p:cNvSpPr/>
            <p:nvPr/>
          </p:nvSpPr>
          <p:spPr>
            <a:xfrm>
              <a:off x="7467601" y="1047750"/>
              <a:ext cx="1447799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44314726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2 - Θέση κειμένου">
            <a:extLst>
              <a:ext uri="{FF2B5EF4-FFF2-40B4-BE49-F238E27FC236}">
                <a16:creationId xmlns:a16="http://schemas.microsoft.com/office/drawing/2014/main" id="{047F0FEB-3A14-94F9-C5A4-326BB47EE7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400" y="1803401"/>
            <a:ext cx="6618589" cy="4798484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Η ανασκόπηση της βιβλιογραφίας διεξήχθη με βάση το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μοντέλο </a:t>
            </a:r>
            <a:r>
              <a:rPr lang="en-US" altLang="en-US" b="1" dirty="0" err="1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Kitchenham</a:t>
            </a:r>
            <a:r>
              <a:rPr lang="en-US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(2004) 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σε τρεις φάσεις ως εξής: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1</a:t>
            </a:r>
            <a:r>
              <a:rPr lang="el-GR" altLang="en-US" baseline="30000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η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φάση: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ανάπτυξη πρωτοκόλλου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2</a:t>
            </a:r>
            <a:r>
              <a:rPr lang="el-GR" altLang="en-US" baseline="30000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η</a:t>
            </a: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φάση: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διεξαγωγή ανασκόπησης</a:t>
            </a:r>
            <a:endParaRPr lang="el-GR" altLang="en-US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333"/>
              </a:spcAft>
              <a:buClr>
                <a:srgbClr val="C7D3E6"/>
              </a:buClr>
              <a:buFont typeface="Roboto Condensed Light" charset="0"/>
              <a:buChar char="▰"/>
            </a:pPr>
            <a:r>
              <a:rPr lang="el-GR" altLang="en-US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 3η φάση: </a:t>
            </a:r>
            <a:r>
              <a:rPr lang="el-GR" altLang="en-US" b="1" dirty="0">
                <a:solidFill>
                  <a:srgbClr val="263248"/>
                </a:solidFill>
                <a:latin typeface="Roboto Condensed Light" charset="0"/>
                <a:cs typeface="Arial" panose="020B0604020202020204" pitchFamily="34" charset="0"/>
                <a:sym typeface="Roboto Condensed Light" charset="0"/>
              </a:rPr>
              <a:t>επικοινωνία αποτελεσμάτων </a:t>
            </a:r>
            <a:endParaRPr lang="en-US" altLang="en-US" b="1" dirty="0">
              <a:solidFill>
                <a:srgbClr val="263248"/>
              </a:solidFill>
              <a:latin typeface="Roboto Condensed Light" charset="0"/>
              <a:cs typeface="Arial" panose="020B0604020202020204" pitchFamily="34" charset="0"/>
              <a:sym typeface="Roboto Condensed Light" charset="0"/>
            </a:endParaRPr>
          </a:p>
        </p:txBody>
      </p:sp>
      <p:sp>
        <p:nvSpPr>
          <p:cNvPr id="29698" name="1 - Τίτλος">
            <a:extLst>
              <a:ext uri="{FF2B5EF4-FFF2-40B4-BE49-F238E27FC236}">
                <a16:creationId xmlns:a16="http://schemas.microsoft.com/office/drawing/2014/main" id="{6C54669D-7FD7-DAD8-D3C7-F752892589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5851" y="522818"/>
            <a:ext cx="7323667" cy="1022349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rgbClr val="FFFFFF"/>
              </a:buClr>
              <a:buFont typeface="Roboto Condensed" charset="0"/>
              <a:buNone/>
            </a:pPr>
            <a:r>
              <a:rPr lang="el-GR" altLang="en-US" sz="2667" b="1" dirty="0">
                <a:solidFill>
                  <a:srgbClr val="FFFFFF"/>
                </a:solidFill>
                <a:latin typeface="Roboto Condensed" charset="0"/>
                <a:cs typeface="Arial" panose="020B0604020202020204" pitchFamily="34" charset="0"/>
                <a:sym typeface="Roboto Condensed" charset="0"/>
              </a:rPr>
              <a:t>Φάσεις ανασκόπησης της βιβλιογραφίας </a:t>
            </a:r>
            <a:endParaRPr lang="en-US" altLang="en-US" sz="2667" b="1" dirty="0">
              <a:solidFill>
                <a:srgbClr val="FFFFFF"/>
              </a:solidFill>
              <a:latin typeface="Roboto Condensed" charset="0"/>
              <a:cs typeface="Arial" panose="020B0604020202020204" pitchFamily="34" charset="0"/>
              <a:sym typeface="Roboto Condensed" charset="0"/>
            </a:endParaRPr>
          </a:p>
        </p:txBody>
      </p:sp>
      <p:sp>
        <p:nvSpPr>
          <p:cNvPr id="29700" name="3 - Θέση αριθμού διαφάνειας">
            <a:extLst>
              <a:ext uri="{FF2B5EF4-FFF2-40B4-BE49-F238E27FC236}">
                <a16:creationId xmlns:a16="http://schemas.microsoft.com/office/drawing/2014/main" id="{C0348393-CB31-B404-D744-BF721BA9F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990575" indent="-380990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523962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2133547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743131" indent="-304792"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1867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0EBA322B-2F00-44EB-9423-D2C2D297F7C1}" type="slidenum">
              <a:rPr lang="en-US" altLang="en-US"/>
              <a:pPr/>
              <a:t>3</a:t>
            </a:fld>
            <a:endParaRPr lang="en-US" altLang="en-US"/>
          </a:p>
        </p:txBody>
      </p:sp>
      <p:grpSp>
        <p:nvGrpSpPr>
          <p:cNvPr id="2" name="Καμβάς 18">
            <a:extLst>
              <a:ext uri="{FF2B5EF4-FFF2-40B4-BE49-F238E27FC236}">
                <a16:creationId xmlns:a16="http://schemas.microsoft.com/office/drawing/2014/main" id="{62CB99BC-9398-1BF3-BB04-499783F5AD38}"/>
              </a:ext>
            </a:extLst>
          </p:cNvPr>
          <p:cNvGrpSpPr>
            <a:grpSpLocks noChangeAspect="1"/>
          </p:cNvGrpSpPr>
          <p:nvPr/>
        </p:nvGrpSpPr>
        <p:grpSpPr>
          <a:xfrm>
            <a:off x="7253600" y="1498669"/>
            <a:ext cx="5040000" cy="5486331"/>
            <a:chOff x="0" y="0"/>
            <a:chExt cx="5399405" cy="5877560"/>
          </a:xfrm>
        </p:grpSpPr>
        <p:sp>
          <p:nvSpPr>
            <p:cNvPr id="3" name="Ορθογώνιο 2">
              <a:extLst>
                <a:ext uri="{FF2B5EF4-FFF2-40B4-BE49-F238E27FC236}">
                  <a16:creationId xmlns:a16="http://schemas.microsoft.com/office/drawing/2014/main" id="{9B476657-174A-B7D2-5DFD-0D8A1AF5C172}"/>
                </a:ext>
              </a:extLst>
            </p:cNvPr>
            <p:cNvSpPr/>
            <p:nvPr/>
          </p:nvSpPr>
          <p:spPr>
            <a:xfrm>
              <a:off x="0" y="0"/>
              <a:ext cx="5399405" cy="5877560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" name="Στρογγυλεμένο ορθογώνιο 23">
              <a:extLst>
                <a:ext uri="{FF2B5EF4-FFF2-40B4-BE49-F238E27FC236}">
                  <a16:creationId xmlns:a16="http://schemas.microsoft.com/office/drawing/2014/main" id="{7F9156C1-7FCE-1DE4-6AA9-DBAA8DEEB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38" y="156484"/>
              <a:ext cx="4038144" cy="1095330"/>
            </a:xfrm>
            <a:prstGeom prst="roundRect">
              <a:avLst>
                <a:gd name="adj" fmla="val 16667"/>
              </a:avLst>
            </a:prstGeom>
            <a:solidFill>
              <a:srgbClr val="95B3D7"/>
            </a:solidFill>
            <a:ln w="25400" algn="ctr">
              <a:solidFill>
                <a:srgbClr val="385D8A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Development of a review protocol</a:t>
              </a:r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marL="609585" indent="-304792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Formulation of the research questions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marL="609585" indent="-304792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Database selection / Searching keywords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marL="609585" indent="-304792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Study selection criteria (inclusion / exclusion)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marL="609585" indent="-304792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Data extraction strategy (evaluation criteria to obtain info)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>
                <a:spcAft>
                  <a:spcPts val="1067"/>
                </a:spcAft>
              </a:pPr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 </a:t>
              </a:r>
              <a:endParaRPr lang="en-US" sz="1333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5" name="Στρογγυλεμένο ορθογώνιο 24">
              <a:extLst>
                <a:ext uri="{FF2B5EF4-FFF2-40B4-BE49-F238E27FC236}">
                  <a16:creationId xmlns:a16="http://schemas.microsoft.com/office/drawing/2014/main" id="{8BC48006-E4EA-6CAF-E803-24029282B2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2966" y="277076"/>
              <a:ext cx="1101595" cy="84790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2C5D98"/>
                </a:gs>
                <a:gs pos="80000">
                  <a:srgbClr val="3C7BC7"/>
                </a:gs>
                <a:gs pos="100000">
                  <a:srgbClr val="3A7CCB"/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rot="0" vert="vert270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1</a:t>
              </a:r>
              <a:r>
                <a:rPr lang="en-US" sz="1067" b="1" baseline="30000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st</a:t>
              </a:r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 Phase: Planning the Review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6" name="Στρογγυλεμένο ορθογώνιο 25">
              <a:extLst>
                <a:ext uri="{FF2B5EF4-FFF2-40B4-BE49-F238E27FC236}">
                  <a16:creationId xmlns:a16="http://schemas.microsoft.com/office/drawing/2014/main" id="{A2AC0E13-71A3-BCDD-CB81-EDFC5FB67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38" y="1486542"/>
              <a:ext cx="4038144" cy="542124"/>
            </a:xfrm>
            <a:prstGeom prst="roundRect">
              <a:avLst>
                <a:gd name="adj" fmla="val 16667"/>
              </a:avLst>
            </a:prstGeom>
            <a:solidFill>
              <a:srgbClr val="FAC090"/>
            </a:solidFill>
            <a:ln w="25400" algn="ctr">
              <a:solidFill>
                <a:srgbClr val="B66D31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Identification of the research: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Unfiltered search results (154 potentially relevant studies)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7" name="Στρογγυλεμένο ορθογώνιο 26">
              <a:extLst>
                <a:ext uri="{FF2B5EF4-FFF2-40B4-BE49-F238E27FC236}">
                  <a16:creationId xmlns:a16="http://schemas.microsoft.com/office/drawing/2014/main" id="{1902E8AD-1A9F-950A-5D17-5D755E220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38" y="2190690"/>
              <a:ext cx="4038144" cy="542124"/>
            </a:xfrm>
            <a:prstGeom prst="roundRect">
              <a:avLst>
                <a:gd name="adj" fmla="val 16667"/>
              </a:avLst>
            </a:prstGeom>
            <a:solidFill>
              <a:srgbClr val="FAC090"/>
            </a:solidFill>
            <a:ln w="25400" algn="ctr">
              <a:solidFill>
                <a:srgbClr val="B66D31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Selection of studies: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Inclusion / exclusion criteria application (40 actually relevant studies)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8" name="Στρογγυλεμένο ορθογώνιο 27">
              <a:extLst>
                <a:ext uri="{FF2B5EF4-FFF2-40B4-BE49-F238E27FC236}">
                  <a16:creationId xmlns:a16="http://schemas.microsoft.com/office/drawing/2014/main" id="{FE243ED6-6D15-8BCD-A7DE-6223DB01F0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771651" y="2387978"/>
              <a:ext cx="2654563" cy="851684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CB6C1D"/>
                </a:gs>
                <a:gs pos="80000">
                  <a:srgbClr val="FF8F2A"/>
                </a:gs>
                <a:gs pos="100000">
                  <a:srgbClr val="FF8F26"/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rot="0" vert="vert270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2</a:t>
              </a:r>
              <a:r>
                <a:rPr lang="en-US" sz="1067" b="1" baseline="30000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nd</a:t>
              </a:r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 Phase: 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Conducting 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the Review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9" name="Στρογγυλεμένο ορθογώνιο 28">
              <a:extLst>
                <a:ext uri="{FF2B5EF4-FFF2-40B4-BE49-F238E27FC236}">
                  <a16:creationId xmlns:a16="http://schemas.microsoft.com/office/drawing/2014/main" id="{88C1F886-AFBD-EBFC-408E-E89148AAB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38" y="2894833"/>
              <a:ext cx="4038144" cy="542124"/>
            </a:xfrm>
            <a:prstGeom prst="roundRect">
              <a:avLst>
                <a:gd name="adj" fmla="val 16667"/>
              </a:avLst>
            </a:prstGeom>
            <a:solidFill>
              <a:srgbClr val="FAC090"/>
            </a:solidFill>
            <a:ln w="25400" algn="ctr">
              <a:solidFill>
                <a:srgbClr val="B66D31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Data extraction: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Collection of the information needed to be extracted for each study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10" name="Στρογγυλεμένο ορθογώνιο 29">
              <a:extLst>
                <a:ext uri="{FF2B5EF4-FFF2-40B4-BE49-F238E27FC236}">
                  <a16:creationId xmlns:a16="http://schemas.microsoft.com/office/drawing/2014/main" id="{3DC7C52D-51CF-3F9A-DD67-F2A112DB5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42" y="3598983"/>
              <a:ext cx="4038143" cy="542124"/>
            </a:xfrm>
            <a:prstGeom prst="roundRect">
              <a:avLst>
                <a:gd name="adj" fmla="val 16667"/>
              </a:avLst>
            </a:prstGeom>
            <a:solidFill>
              <a:srgbClr val="FAC090"/>
            </a:solidFill>
            <a:ln w="25400" algn="ctr">
              <a:solidFill>
                <a:srgbClr val="B66D31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Data synthesis: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Collating and summarizing the results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11" name="Στρογγυλεμένο ορθογώνιο 30">
              <a:extLst>
                <a:ext uri="{FF2B5EF4-FFF2-40B4-BE49-F238E27FC236}">
                  <a16:creationId xmlns:a16="http://schemas.microsoft.com/office/drawing/2014/main" id="{D80B2298-9D77-B2E0-D611-C36D1645D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2442" y="4386912"/>
              <a:ext cx="4038143" cy="542124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25400" algn="ctr">
              <a:solidFill>
                <a:srgbClr val="71893F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Communication of the results: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Quantitative summary results presented in tables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cxnSp>
          <p:nvCxnSpPr>
            <p:cNvPr id="12" name="Ευθύγραμμο βέλος σύνδεσης 11">
              <a:extLst>
                <a:ext uri="{FF2B5EF4-FFF2-40B4-BE49-F238E27FC236}">
                  <a16:creationId xmlns:a16="http://schemas.microsoft.com/office/drawing/2014/main" id="{4DF44310-965F-8CE8-B5D4-D33B8CD8F0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1269211"/>
              <a:ext cx="1" cy="199950"/>
            </a:xfrm>
            <a:prstGeom prst="straightConnector1">
              <a:avLst/>
            </a:prstGeom>
            <a:noFill/>
            <a:ln w="57150" algn="ctr">
              <a:solidFill>
                <a:srgbClr val="385D8A"/>
              </a:solidFill>
              <a:round/>
              <a:headEnd/>
              <a:tailEnd type="triangle" w="sm" len="sm"/>
            </a:ln>
          </p:spPr>
        </p:cxnSp>
        <p:cxnSp>
          <p:nvCxnSpPr>
            <p:cNvPr id="13" name="Ευθύγραμμο βέλος σύνδεσης 12">
              <a:extLst>
                <a:ext uri="{FF2B5EF4-FFF2-40B4-BE49-F238E27FC236}">
                  <a16:creationId xmlns:a16="http://schemas.microsoft.com/office/drawing/2014/main" id="{0A27F8BE-6A0E-942D-F502-0FFE880EBB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2046381"/>
              <a:ext cx="1" cy="126918"/>
            </a:xfrm>
            <a:prstGeom prst="straightConnector1">
              <a:avLst/>
            </a:prstGeom>
            <a:noFill/>
            <a:ln w="57150" algn="ctr">
              <a:solidFill>
                <a:srgbClr val="B66D31"/>
              </a:solidFill>
              <a:round/>
              <a:headEnd/>
              <a:tailEnd type="triangle" w="sm" len="sm"/>
            </a:ln>
          </p:spPr>
        </p:cxnSp>
        <p:cxnSp>
          <p:nvCxnSpPr>
            <p:cNvPr id="14" name="Ευθύγραμμο βέλος σύνδεσης 13">
              <a:extLst>
                <a:ext uri="{FF2B5EF4-FFF2-40B4-BE49-F238E27FC236}">
                  <a16:creationId xmlns:a16="http://schemas.microsoft.com/office/drawing/2014/main" id="{6E5F86D2-8BD6-28AC-F6D3-A93BA7982E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2750523"/>
              <a:ext cx="1" cy="126918"/>
            </a:xfrm>
            <a:prstGeom prst="straightConnector1">
              <a:avLst/>
            </a:prstGeom>
            <a:noFill/>
            <a:ln w="57150" algn="ctr">
              <a:solidFill>
                <a:srgbClr val="B66D31"/>
              </a:solidFill>
              <a:round/>
              <a:headEnd/>
              <a:tailEnd type="triangle" w="sm" len="sm"/>
            </a:ln>
          </p:spPr>
        </p:cxnSp>
        <p:cxnSp>
          <p:nvCxnSpPr>
            <p:cNvPr id="15" name="Ευθύγραμμο βέλος σύνδεσης 14">
              <a:extLst>
                <a:ext uri="{FF2B5EF4-FFF2-40B4-BE49-F238E27FC236}">
                  <a16:creationId xmlns:a16="http://schemas.microsoft.com/office/drawing/2014/main" id="{7285CCC6-8537-D34F-08AA-70B0501691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3454666"/>
              <a:ext cx="1" cy="126918"/>
            </a:xfrm>
            <a:prstGeom prst="straightConnector1">
              <a:avLst/>
            </a:prstGeom>
            <a:noFill/>
            <a:ln w="57150" algn="ctr">
              <a:solidFill>
                <a:srgbClr val="B66D31"/>
              </a:solidFill>
              <a:round/>
              <a:headEnd/>
              <a:tailEnd type="triangle" w="sm" len="sm"/>
            </a:ln>
          </p:spPr>
        </p:cxnSp>
        <p:cxnSp>
          <p:nvCxnSpPr>
            <p:cNvPr id="16" name="Ευθύγραμμο βέλος σύνδεσης 15">
              <a:extLst>
                <a:ext uri="{FF2B5EF4-FFF2-40B4-BE49-F238E27FC236}">
                  <a16:creationId xmlns:a16="http://schemas.microsoft.com/office/drawing/2014/main" id="{47EA2162-B7E3-2C03-5AB8-9E5D735AC22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4158824"/>
              <a:ext cx="1" cy="210364"/>
            </a:xfrm>
            <a:prstGeom prst="straightConnector1">
              <a:avLst/>
            </a:prstGeom>
            <a:noFill/>
            <a:ln w="57150" algn="ctr">
              <a:solidFill>
                <a:srgbClr val="B66D31"/>
              </a:solidFill>
              <a:round/>
              <a:headEnd/>
              <a:tailEnd type="triangle" w="sm" len="sm"/>
            </a:ln>
          </p:spPr>
        </p:cxnSp>
        <p:sp>
          <p:nvSpPr>
            <p:cNvPr id="17" name="Στρογγυλεμένο ορθογώνιο 36">
              <a:extLst>
                <a:ext uri="{FF2B5EF4-FFF2-40B4-BE49-F238E27FC236}">
                  <a16:creationId xmlns:a16="http://schemas.microsoft.com/office/drawing/2014/main" id="{13F9DC3E-B76E-17A3-E339-1AC3217298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69470" y="4586171"/>
              <a:ext cx="1246262" cy="84773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769535"/>
                </a:gs>
                <a:gs pos="80000">
                  <a:srgbClr val="9BC348"/>
                </a:gs>
                <a:gs pos="100000">
                  <a:srgbClr val="9CC746"/>
                </a:gs>
              </a:gsLst>
              <a:lin ang="1620000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4999"/>
                </a:srgbClr>
              </a:outerShdw>
            </a:effectLst>
          </p:spPr>
          <p:txBody>
            <a:bodyPr rot="0" vert="vert270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3</a:t>
              </a:r>
              <a:r>
                <a:rPr lang="en-US" sz="1067" b="1" baseline="30000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rd</a:t>
              </a:r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 Phase: Reporting the Review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sp>
          <p:nvSpPr>
            <p:cNvPr id="18" name="Στρογγυλεμένο ορθογώνιο 37">
              <a:extLst>
                <a:ext uri="{FF2B5EF4-FFF2-40B4-BE49-F238E27FC236}">
                  <a16:creationId xmlns:a16="http://schemas.microsoft.com/office/drawing/2014/main" id="{41705204-9250-182E-69FC-83EB4D3116C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222437" y="5091082"/>
              <a:ext cx="4037446" cy="542037"/>
            </a:xfrm>
            <a:prstGeom prst="roundRect">
              <a:avLst>
                <a:gd name="adj" fmla="val 16667"/>
              </a:avLst>
            </a:prstGeom>
            <a:solidFill>
              <a:srgbClr val="C3D69B"/>
            </a:solidFill>
            <a:ln w="25400" algn="ctr">
              <a:solidFill>
                <a:srgbClr val="71893F"/>
              </a:solidFill>
              <a:round/>
              <a:headEnd/>
              <a:tailEnd/>
            </a:ln>
          </p:spPr>
          <p:txBody>
            <a:bodyPr rot="0" vert="horz" wrap="square" lIns="159440" tIns="79716" rIns="159440" bIns="79716" anchor="ctr" anchorCtr="0" upright="1">
              <a:noAutofit/>
            </a:bodyPr>
            <a:lstStyle/>
            <a:p>
              <a:pPr algn="ctr"/>
              <a:r>
                <a:rPr lang="en-US" sz="1067" b="1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Discussion: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  <a:p>
              <a:pPr algn="ctr"/>
              <a:r>
                <a:rPr lang="en-US" sz="1067" dirty="0">
                  <a:solidFill>
                    <a:srgbClr val="000000"/>
                  </a:solidFill>
                  <a:latin typeface="Roboto Condensed Light" panose="02000000000000000000" pitchFamily="2" charset="0"/>
                  <a:ea typeface="Roboto Condensed Light" panose="02000000000000000000" pitchFamily="2" charset="0"/>
                  <a:cs typeface="Roboto Condensed Light" panose="02000000000000000000" pitchFamily="2" charset="0"/>
                </a:rPr>
                <a:t>Principal findings</a:t>
              </a:r>
              <a:endParaRPr lang="en-US" sz="1400" dirty="0">
                <a:latin typeface="Roboto Condensed Light" panose="02000000000000000000" pitchFamily="2" charset="0"/>
                <a:ea typeface="Roboto Condensed Light" panose="02000000000000000000" pitchFamily="2" charset="0"/>
                <a:cs typeface="Roboto Condensed Light" panose="02000000000000000000" pitchFamily="2" charset="0"/>
              </a:endParaRPr>
            </a:p>
          </p:txBody>
        </p:sp>
        <p:cxnSp>
          <p:nvCxnSpPr>
            <p:cNvPr id="19" name="Ευθύγραμμο βέλος σύνδεσης 18">
              <a:extLst>
                <a:ext uri="{FF2B5EF4-FFF2-40B4-BE49-F238E27FC236}">
                  <a16:creationId xmlns:a16="http://schemas.microsoft.com/office/drawing/2014/main" id="{B752F8BA-985A-CDFE-A34B-76B33479E01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1577" y="4946414"/>
              <a:ext cx="1" cy="126918"/>
            </a:xfrm>
            <a:prstGeom prst="straightConnector1">
              <a:avLst/>
            </a:prstGeom>
            <a:noFill/>
            <a:ln w="57150" algn="ctr">
              <a:solidFill>
                <a:srgbClr val="71893F"/>
              </a:solidFill>
              <a:round/>
              <a:headEnd/>
              <a:tailEnd type="triangle" w="sm" len="sm"/>
            </a:ln>
          </p:spPr>
        </p:cxnSp>
      </p:grpSp>
      <p:pic>
        <p:nvPicPr>
          <p:cNvPr id="21" name="Εικόνα 20">
            <a:extLst>
              <a:ext uri="{FF2B5EF4-FFF2-40B4-BE49-F238E27FC236}">
                <a16:creationId xmlns:a16="http://schemas.microsoft.com/office/drawing/2014/main" id="{F82547C4-E879-1D8C-7B54-C9B4A5456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000" y="2"/>
            <a:ext cx="2712000" cy="1618356"/>
          </a:xfrm>
          <a:prstGeom prst="rect">
            <a:avLst/>
          </a:prstGeom>
        </p:spPr>
      </p:pic>
      <p:sp>
        <p:nvSpPr>
          <p:cNvPr id="23" name="Βέλος: Επάνω 22">
            <a:extLst>
              <a:ext uri="{FF2B5EF4-FFF2-40B4-BE49-F238E27FC236}">
                <a16:creationId xmlns:a16="http://schemas.microsoft.com/office/drawing/2014/main" id="{B3D73A3C-751F-52A0-94A2-975ECA8162F7}"/>
              </a:ext>
            </a:extLst>
          </p:cNvPr>
          <p:cNvSpPr/>
          <p:nvPr/>
        </p:nvSpPr>
        <p:spPr>
          <a:xfrm rot="3620378">
            <a:off x="5643750" y="1234481"/>
            <a:ext cx="298537" cy="3600000"/>
          </a:xfrm>
          <a:prstGeom prst="upArrow">
            <a:avLst/>
          </a:prstGeom>
          <a:solidFill>
            <a:srgbClr val="3C7BC7"/>
          </a:solidFill>
          <a:ln w="12700">
            <a:solidFill>
              <a:srgbClr val="95B3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Βέλος: Επάνω 23">
            <a:extLst>
              <a:ext uri="{FF2B5EF4-FFF2-40B4-BE49-F238E27FC236}">
                <a16:creationId xmlns:a16="http://schemas.microsoft.com/office/drawing/2014/main" id="{7A5D8CD9-0C34-E331-D174-363162EF7AE1}"/>
              </a:ext>
            </a:extLst>
          </p:cNvPr>
          <p:cNvSpPr/>
          <p:nvPr/>
        </p:nvSpPr>
        <p:spPr>
          <a:xfrm rot="4795065">
            <a:off x="5695421" y="2907424"/>
            <a:ext cx="298537" cy="3120000"/>
          </a:xfrm>
          <a:prstGeom prst="upArrow">
            <a:avLst/>
          </a:prstGeom>
          <a:solidFill>
            <a:srgbClr val="FE8E2A"/>
          </a:solidFill>
          <a:ln w="12700">
            <a:solidFill>
              <a:srgbClr val="FAC0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5" name="Βέλος: Επάνω 24">
            <a:extLst>
              <a:ext uri="{FF2B5EF4-FFF2-40B4-BE49-F238E27FC236}">
                <a16:creationId xmlns:a16="http://schemas.microsoft.com/office/drawing/2014/main" id="{215D7861-8AA2-A070-B254-094FAC935B59}"/>
              </a:ext>
            </a:extLst>
          </p:cNvPr>
          <p:cNvSpPr/>
          <p:nvPr/>
        </p:nvSpPr>
        <p:spPr>
          <a:xfrm rot="6302345">
            <a:off x="5736473" y="4246101"/>
            <a:ext cx="298537" cy="3120000"/>
          </a:xfrm>
          <a:prstGeom prst="upArrow">
            <a:avLst/>
          </a:prstGeom>
          <a:solidFill>
            <a:srgbClr val="80A23A"/>
          </a:solidFill>
          <a:ln w="12700">
            <a:solidFill>
              <a:srgbClr val="C3D6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Ερευνητικά Ερωτήματα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l-GR" dirty="0"/>
              <a:t>Μπορεί η χρήση μιας εφαρμογής για φορητές συσκευές με στοιχεία επαυξημένης πραγματικότητας και εξατομίκευσης να έχει καλύτερα μαθησιακά αποτελέσματα αναφορικά με τις χωρικές ικανότητες των φοιτητών/τριών, συγκριτικά με τη συμβατική διδασκαλία;</a:t>
            </a:r>
          </a:p>
          <a:p>
            <a:pPr algn="just"/>
            <a:r>
              <a:rPr lang="el-GR" dirty="0"/>
              <a:t>Υπάρχουν σημαντικές διαφορές στην επίτευξη των μαθησιακών στόχων των φοιτητών/τριών που χρησιμοποιούν εφαρμογές επαυξημένης πραγματικότητας, σε σχέση με το Τμήμα της Σχολής Μηχανικών που ανήκουν;</a:t>
            </a:r>
          </a:p>
          <a:p>
            <a:pPr algn="just"/>
            <a:r>
              <a:rPr lang="el-GR" dirty="0"/>
              <a:t>Πως επηρεάζει το φύλο των φοιτητών/τριών, οι οποίοι/</a:t>
            </a:r>
            <a:r>
              <a:rPr lang="el-GR" dirty="0" err="1"/>
              <a:t>ες</a:t>
            </a:r>
            <a:r>
              <a:rPr lang="el-GR" dirty="0"/>
              <a:t> χρησιμοποιούν εφαρμογές επαυξημένης πραγματικότητας, την επίτευξη των μαθησιακών  στόχων; </a:t>
            </a:r>
          </a:p>
          <a:p>
            <a:pPr algn="just"/>
            <a:r>
              <a:rPr lang="el-GR" dirty="0"/>
              <a:t>Οι φοιτητές/</a:t>
            </a:r>
            <a:r>
              <a:rPr lang="el-GR" dirty="0" err="1"/>
              <a:t>τριες</a:t>
            </a:r>
            <a:r>
              <a:rPr lang="el-GR" dirty="0"/>
              <a:t>  διαμορφώνουν θετική στάση και άποψη για τη διδασκαλία με τεχνολογίες επαυξημένης πραγματικότητας;</a:t>
            </a:r>
          </a:p>
          <a:p>
            <a:pPr algn="just"/>
            <a:r>
              <a:rPr lang="el-GR" dirty="0"/>
              <a:t>Το διδακτικό προσωπικό διαμορφώνει θετική στάση και άποψη για τη διδασκαλία με τεχνολογίες επαυξημένης πραγματικότητας;</a:t>
            </a:r>
          </a:p>
          <a:p>
            <a:pPr algn="just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178765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Ερευνητικά Ερωτήματα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2371725" y="2133600"/>
            <a:ext cx="9132887" cy="377762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l-GR" dirty="0"/>
              <a:t>Διατυπώθηκαν τα εξής ερευνητικά ερωτήματα:</a:t>
            </a:r>
          </a:p>
          <a:p>
            <a:pPr algn="just"/>
            <a:r>
              <a:rPr lang="en-US" i="1" dirty="0"/>
              <a:t>RQ1: What is the status of Augmented Reality in Spatial Ability training from 2000 to 2022?  </a:t>
            </a:r>
          </a:p>
          <a:p>
            <a:pPr algn="just"/>
            <a:r>
              <a:rPr lang="en-US" i="1" dirty="0"/>
              <a:t>RQ2: What are the advantages of Augmented Reality in spatial skills’ training?</a:t>
            </a:r>
          </a:p>
          <a:p>
            <a:pPr algn="just"/>
            <a:r>
              <a:rPr lang="en-US" i="1" dirty="0"/>
              <a:t>RQ3: What are the limitations of Augmented Reality in spatial skills’ training?</a:t>
            </a:r>
          </a:p>
          <a:p>
            <a:pPr algn="just"/>
            <a:r>
              <a:rPr lang="en-US" i="1" dirty="0"/>
              <a:t>RQ4: Have the inclusion of combined adaptive or personalized processes been considered in AR apps?</a:t>
            </a:r>
          </a:p>
          <a:p>
            <a:pPr algn="just"/>
            <a:r>
              <a:rPr lang="en-US" i="1" dirty="0"/>
              <a:t>RQ5: Which aspects of spatial abilities have been evaluated using AR?</a:t>
            </a:r>
          </a:p>
          <a:p>
            <a:pPr algn="just"/>
            <a:r>
              <a:rPr lang="en-US" i="1" dirty="0"/>
              <a:t>RQ6: What are the evaluation methods considered for AR applications in educational scenarios?</a:t>
            </a:r>
          </a:p>
          <a:p>
            <a:pPr algn="just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8107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Ανασκόπηση Βιβλιογραφίας </a:t>
            </a:r>
            <a:br>
              <a:rPr lang="el-GR" dirty="0"/>
            </a:br>
            <a:r>
              <a:rPr lang="en-US" i="1" dirty="0"/>
              <a:t>(</a:t>
            </a:r>
            <a:r>
              <a:rPr lang="en-US" i="1" dirty="0" err="1"/>
              <a:t>Kitchenham</a:t>
            </a:r>
            <a:r>
              <a:rPr lang="en-US" i="1" dirty="0"/>
              <a:t>, 2004) </a:t>
            </a:r>
            <a:br>
              <a:rPr lang="en-US" dirty="0"/>
            </a:br>
            <a:endParaRPr lang="el-GR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2592924" y="1694329"/>
            <a:ext cx="8911687" cy="49485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l-GR" dirty="0"/>
              <a:t>1</a:t>
            </a:r>
            <a:r>
              <a:rPr lang="el-GR" baseline="30000" dirty="0"/>
              <a:t>ο</a:t>
            </a:r>
            <a:r>
              <a:rPr lang="el-GR" dirty="0"/>
              <a:t> βήμα: Σχεδιασμός </a:t>
            </a:r>
            <a:endParaRPr lang="en-US" dirty="0"/>
          </a:p>
          <a:p>
            <a:pPr indent="20638"/>
            <a:r>
              <a:rPr lang="el-GR" dirty="0"/>
              <a:t>Επιλογή άρθρων</a:t>
            </a:r>
            <a:endParaRPr lang="en-US" dirty="0"/>
          </a:p>
          <a:p>
            <a:pPr indent="20638"/>
            <a:r>
              <a:rPr lang="el-GR" dirty="0"/>
              <a:t>Καθορισμός κριτηρίων αποκλεισμού και αποδοχής ερευνών</a:t>
            </a:r>
            <a:endParaRPr lang="en-US" dirty="0"/>
          </a:p>
          <a:p>
            <a:pPr indent="20638"/>
            <a:r>
              <a:rPr lang="el-GR" dirty="0"/>
              <a:t>Ορισμός κατηγοριών για την ανάλυση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2</a:t>
            </a:r>
            <a:r>
              <a:rPr lang="el-GR" baseline="30000" dirty="0"/>
              <a:t>ο</a:t>
            </a:r>
            <a:r>
              <a:rPr lang="el-GR" dirty="0"/>
              <a:t> βήμα: Υλοποίηση ανασκόπησης </a:t>
            </a:r>
            <a:endParaRPr lang="en-US" dirty="0"/>
          </a:p>
          <a:p>
            <a:pPr indent="20638"/>
            <a:r>
              <a:rPr lang="el-GR" dirty="0"/>
              <a:t>Μελέτη επιλεγμένης βιβλιογραφίας</a:t>
            </a:r>
            <a:endParaRPr lang="en-US" dirty="0"/>
          </a:p>
          <a:p>
            <a:pPr indent="20638"/>
            <a:r>
              <a:rPr lang="el-GR" dirty="0"/>
              <a:t>Ανάλυση περιεχομένου </a:t>
            </a:r>
          </a:p>
          <a:p>
            <a:pPr indent="20638"/>
            <a:r>
              <a:rPr lang="el-GR" dirty="0"/>
              <a:t>Κωδικοποίηση δεδομένων</a:t>
            </a:r>
          </a:p>
          <a:p>
            <a:pPr marL="0" indent="0">
              <a:buNone/>
            </a:pPr>
            <a:r>
              <a:rPr lang="el-GR" dirty="0"/>
              <a:t>3</a:t>
            </a:r>
            <a:r>
              <a:rPr lang="el-GR" baseline="30000" dirty="0"/>
              <a:t>ο</a:t>
            </a:r>
            <a:r>
              <a:rPr lang="el-GR" dirty="0"/>
              <a:t> βήμα: Συγγραφή ανασκόπησης </a:t>
            </a:r>
          </a:p>
          <a:p>
            <a:pPr indent="20638"/>
            <a:r>
              <a:rPr lang="el-GR" dirty="0"/>
              <a:t>Ανάλυση αποτελεσμάτων</a:t>
            </a:r>
          </a:p>
          <a:p>
            <a:pPr indent="20638"/>
            <a:r>
              <a:rPr lang="el-GR" dirty="0"/>
              <a:t>Τάσεις</a:t>
            </a:r>
          </a:p>
          <a:p>
            <a:pPr indent="20638"/>
            <a:r>
              <a:rPr lang="el-GR" dirty="0"/>
              <a:t>Συμπεράσματα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64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l-GR" dirty="0"/>
              <a:t>α</a:t>
            </a:r>
            <a:r>
              <a:rPr lang="en-US" dirty="0"/>
              <a:t>. </a:t>
            </a:r>
            <a:r>
              <a:rPr lang="el-GR" dirty="0"/>
              <a:t>Σχεδιασμός</a:t>
            </a:r>
            <a:r>
              <a:rPr lang="en-US" dirty="0"/>
              <a:t> / </a:t>
            </a:r>
            <a:r>
              <a:rPr lang="el-GR" dirty="0"/>
              <a:t>επιλογή άρθρων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l-GR" dirty="0"/>
              <a:t>Χρησιμοποιήθηκαν οι βιβλιογραφικές βάσεις δεδομένων </a:t>
            </a:r>
            <a:r>
              <a:rPr lang="en-US" dirty="0"/>
              <a:t>Scopus </a:t>
            </a:r>
            <a:r>
              <a:rPr lang="el-GR" dirty="0"/>
              <a:t>και </a:t>
            </a:r>
            <a:r>
              <a:rPr lang="en-US" dirty="0"/>
              <a:t>Google Scholar</a:t>
            </a:r>
            <a:endParaRPr lang="el-GR" dirty="0"/>
          </a:p>
          <a:p>
            <a:pPr algn="just"/>
            <a:r>
              <a:rPr lang="el-GR" dirty="0"/>
              <a:t>Επιλέχθηκαν 1</a:t>
            </a:r>
            <a:r>
              <a:rPr lang="en-US" dirty="0"/>
              <a:t>60</a:t>
            </a:r>
            <a:r>
              <a:rPr lang="el-GR" dirty="0"/>
              <a:t> άρθρα βασισμένα σε λέξεις «κλειδιά»</a:t>
            </a:r>
            <a:r>
              <a:rPr lang="en-US" dirty="0"/>
              <a:t> </a:t>
            </a:r>
            <a:r>
              <a:rPr lang="el-GR" dirty="0"/>
              <a:t>:</a:t>
            </a:r>
            <a:endParaRPr lang="en-US" dirty="0"/>
          </a:p>
          <a:p>
            <a:pPr marL="268288" indent="0" algn="just">
              <a:buNone/>
            </a:pPr>
            <a:r>
              <a:rPr lang="en-US" dirty="0"/>
              <a:t>( TITLE-ABS-KEY ( "augmented reality" )  AND  TITLE-ABS-KEY ( spatial  AND ability )  OR  TITLE-ABS-KEY ( spatial  AND skills )  AND  TITLE-ABS-KEY ( training )  OR  TITLE-ABS-KEY ( teaching )  OR  TITLE-ABS-KEY ( education ) ) </a:t>
            </a:r>
            <a:endParaRPr lang="el-GR" dirty="0"/>
          </a:p>
          <a:p>
            <a:pPr algn="just"/>
            <a:r>
              <a:rPr lang="el-GR" dirty="0"/>
              <a:t>Η αναζήτηση πραγματοποιήθηκε στον τίτλο, την περίληψη ή τις λέξεις κλειδιά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6367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l-GR" dirty="0"/>
              <a:t>β</a:t>
            </a:r>
            <a:r>
              <a:rPr lang="en-US" dirty="0"/>
              <a:t>. </a:t>
            </a:r>
            <a:r>
              <a:rPr lang="el-GR" dirty="0"/>
              <a:t>Σχεδιασμός</a:t>
            </a:r>
            <a:r>
              <a:rPr lang="en-US" dirty="0"/>
              <a:t> / </a:t>
            </a:r>
            <a:r>
              <a:rPr lang="el-GR" dirty="0"/>
              <a:t>κριτήρια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l-GR" dirty="0"/>
              <a:t>Τα κριτήρια αποδοχής ήταν:</a:t>
            </a:r>
          </a:p>
          <a:p>
            <a:pPr algn="just"/>
            <a:r>
              <a:rPr lang="el-GR" dirty="0"/>
              <a:t>έρευνες που καλύπτουν την τελευταία δεκαετία 2010-20</a:t>
            </a:r>
            <a:r>
              <a:rPr lang="en-US" dirty="0"/>
              <a:t>22</a:t>
            </a:r>
            <a:endParaRPr lang="el-GR" dirty="0"/>
          </a:p>
          <a:p>
            <a:pPr algn="just"/>
            <a:r>
              <a:rPr lang="el-GR" dirty="0"/>
              <a:t>άρθρα που είναι γραμμένα στην Αγγλική γλώσσα</a:t>
            </a:r>
          </a:p>
          <a:p>
            <a:pPr marL="0" indent="0" algn="just">
              <a:buNone/>
            </a:pPr>
            <a:endParaRPr lang="el-GR" dirty="0"/>
          </a:p>
          <a:p>
            <a:pPr marL="0" indent="0" algn="just">
              <a:buNone/>
            </a:pPr>
            <a:r>
              <a:rPr lang="el-GR" dirty="0"/>
              <a:t>Τα κριτήρια αποκλεισμού ήταν:</a:t>
            </a:r>
          </a:p>
          <a:p>
            <a:pPr algn="just"/>
            <a:r>
              <a:rPr lang="el-GR" dirty="0"/>
              <a:t>άρθρα βιβλιογραφικής ανασκόπησης (άρθρων ή/και συνεδρίων)</a:t>
            </a:r>
            <a:r>
              <a:rPr lang="en-US" dirty="0"/>
              <a:t>,</a:t>
            </a:r>
            <a:r>
              <a:rPr lang="el-GR" dirty="0"/>
              <a:t> άρθρα συνεδρίων</a:t>
            </a:r>
            <a:r>
              <a:rPr lang="en-US" dirty="0"/>
              <a:t> </a:t>
            </a:r>
            <a:r>
              <a:rPr lang="el-GR" dirty="0"/>
              <a:t>και μεταπτυχιακές ή διδακτορικές διατριβές</a:t>
            </a:r>
          </a:p>
          <a:p>
            <a:pPr algn="just"/>
            <a:r>
              <a:rPr lang="el-GR" dirty="0"/>
              <a:t>μη συσχέτιση του περιεχομένου με Επαυξημένη Πραγματικότητα και εκπαίδευση των </a:t>
            </a:r>
            <a:r>
              <a:rPr lang="en-US" dirty="0"/>
              <a:t>Spatial Skills</a:t>
            </a: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73098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2592925" y="0"/>
            <a:ext cx="8911687" cy="1280890"/>
          </a:xfrm>
        </p:spPr>
        <p:txBody>
          <a:bodyPr/>
          <a:lstStyle/>
          <a:p>
            <a:r>
              <a:rPr lang="en-US" dirty="0"/>
              <a:t>1</a:t>
            </a:r>
            <a:r>
              <a:rPr lang="el-GR" dirty="0"/>
              <a:t>γ</a:t>
            </a:r>
            <a:r>
              <a:rPr lang="en-US" dirty="0"/>
              <a:t>. </a:t>
            </a:r>
            <a:r>
              <a:rPr lang="el-GR" dirty="0"/>
              <a:t>Σχεδιασμός</a:t>
            </a:r>
            <a:r>
              <a:rPr lang="en-US" dirty="0"/>
              <a:t> / </a:t>
            </a:r>
            <a:r>
              <a:rPr lang="el-GR" dirty="0"/>
              <a:t>κατηγορίες για ανάλυση και κωδικοποίηση</a:t>
            </a:r>
          </a:p>
        </p:txBody>
      </p:sp>
      <p:graphicFrame>
        <p:nvGraphicFramePr>
          <p:cNvPr id="7" name="Θέση περιεχομένου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102542"/>
              </p:ext>
            </p:extLst>
          </p:nvPr>
        </p:nvGraphicFramePr>
        <p:xfrm>
          <a:off x="984000" y="1299886"/>
          <a:ext cx="11196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just"/>
                      <a:r>
                        <a:rPr lang="en-US" dirty="0"/>
                        <a:t>1o</a:t>
                      </a:r>
                      <a:r>
                        <a:rPr lang="en-US" baseline="0" dirty="0"/>
                        <a:t> </a:t>
                      </a:r>
                      <a:r>
                        <a:rPr lang="el-GR" dirty="0"/>
                        <a:t>Ερευνητικό</a:t>
                      </a:r>
                      <a:r>
                        <a:rPr lang="el-GR" baseline="0" dirty="0"/>
                        <a:t> ερώτημα - </a:t>
                      </a:r>
                      <a:r>
                        <a:rPr lang="en-US" i="1" dirty="0"/>
                        <a:t>What is the status of AR in Spatial Ability training from 2000 to 2019? </a:t>
                      </a:r>
                    </a:p>
                    <a:p>
                      <a:pPr algn="just"/>
                      <a:r>
                        <a:rPr lang="en-US" i="0" dirty="0"/>
                        <a:t>2o-3o </a:t>
                      </a:r>
                      <a:r>
                        <a:rPr lang="el-GR" dirty="0" err="1"/>
                        <a:t>Ερ</a:t>
                      </a:r>
                      <a:r>
                        <a:rPr lang="el-GR" dirty="0"/>
                        <a:t>. </a:t>
                      </a:r>
                      <a:r>
                        <a:rPr lang="el-GR" baseline="0" dirty="0"/>
                        <a:t>Ερωτήματα -</a:t>
                      </a:r>
                      <a:r>
                        <a:rPr lang="en-US" i="1" dirty="0"/>
                        <a:t> What are the advantages</a:t>
                      </a:r>
                      <a:r>
                        <a:rPr lang="el-GR" i="1" dirty="0"/>
                        <a:t> </a:t>
                      </a:r>
                      <a:r>
                        <a:rPr lang="en-US" i="1" dirty="0"/>
                        <a:t>and the limitations of AR in Spatial Ability training 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Research Title</a:t>
                      </a:r>
                    </a:p>
                    <a:p>
                      <a:pPr algn="l"/>
                      <a:r>
                        <a:rPr lang="en-US" dirty="0"/>
                        <a:t>(Researchers)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Publication Year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Level of education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Target Group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Country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Advantages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Θέση περιεχομένου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4903034"/>
              </p:ext>
            </p:extLst>
          </p:nvPr>
        </p:nvGraphicFramePr>
        <p:xfrm>
          <a:off x="996000" y="3146618"/>
          <a:ext cx="11196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4o </a:t>
                      </a:r>
                      <a:r>
                        <a:rPr lang="el-GR" dirty="0"/>
                        <a:t>Ερευνητικό</a:t>
                      </a:r>
                      <a:r>
                        <a:rPr lang="el-GR" baseline="0" dirty="0"/>
                        <a:t> ερώτημα - </a:t>
                      </a:r>
                      <a:r>
                        <a:rPr lang="en-US" i="1" dirty="0"/>
                        <a:t>Have the inclusion of combined adaptive or personalized processes been considered in AR apps?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Type of adaptive process</a:t>
                      </a:r>
                      <a:endParaRPr lang="el-G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Type of user modeling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Θέση περιεχομένου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315709"/>
              </p:ext>
            </p:extLst>
          </p:nvPr>
        </p:nvGraphicFramePr>
        <p:xfrm>
          <a:off x="996000" y="4670615"/>
          <a:ext cx="111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just"/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5o </a:t>
                      </a:r>
                      <a:r>
                        <a:rPr lang="el-GR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Ερευνητικό ερώτημα - </a:t>
                      </a:r>
                      <a:r>
                        <a:rPr lang="en-US" i="1" dirty="0"/>
                        <a:t>Which aspects of Spatial Abilities have been evaluated using AR?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Aspects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Θέση περιεχομένου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6723738"/>
              </p:ext>
            </p:extLst>
          </p:nvPr>
        </p:nvGraphicFramePr>
        <p:xfrm>
          <a:off x="996000" y="5414687"/>
          <a:ext cx="11196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99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 gridSpan="8">
                  <a:txBody>
                    <a:bodyPr/>
                    <a:lstStyle/>
                    <a:p>
                      <a:pPr algn="just"/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6o </a:t>
                      </a:r>
                      <a:r>
                        <a:rPr lang="el-GR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Ερευνητικό ερώτημα - </a:t>
                      </a:r>
                      <a:r>
                        <a:rPr lang="en-US" i="1" dirty="0"/>
                        <a:t>What are the evaluation methods considered for AR apps in educational scenarios</a:t>
                      </a:r>
                      <a:r>
                        <a:rPr lang="en-US" dirty="0"/>
                        <a:t>?</a:t>
                      </a:r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l-GR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sample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Research method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collection method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Θέση αριθμού διαφάνειας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838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</a:t>
            </a:r>
            <a:r>
              <a:rPr lang="el-GR" dirty="0"/>
              <a:t>Υλοποίηση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l-GR" dirty="0"/>
              <a:t>Εφαρμόστηκαν τα κριτήρια αποδοχής και αποκλεισμού και προέκυψαν 51 άρθρα</a:t>
            </a:r>
          </a:p>
          <a:p>
            <a:pPr algn="just"/>
            <a:r>
              <a:rPr lang="el-GR" dirty="0"/>
              <a:t>Κατόπιν μελέτης του περιεχομένου τους απορρίφθηκαν επιπλέον 19 άρθρα και ο αριθμός των ερευνών τελικά περιορίστηκε σε </a:t>
            </a:r>
            <a:r>
              <a:rPr lang="en-US" dirty="0"/>
              <a:t>40</a:t>
            </a:r>
            <a:endParaRPr lang="el-GR" dirty="0"/>
          </a:p>
          <a:p>
            <a:pPr algn="just"/>
            <a:r>
              <a:rPr lang="el-GR" dirty="0"/>
              <a:t>Έγινε λεπτομερής μελέτη και κωδικοποιήθηκαν σύμφωνα με τις κατηγορίες του προηγούμενου βήματος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0535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3</a:t>
            </a:r>
            <a:r>
              <a:rPr lang="en-US" dirty="0"/>
              <a:t>. </a:t>
            </a:r>
            <a:r>
              <a:rPr lang="el-GR" dirty="0"/>
              <a:t>Συγγραφή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l-GR" dirty="0"/>
              <a:t>Η δομή που θα ακολουθηθεί θα είναι η εξής:</a:t>
            </a:r>
          </a:p>
          <a:p>
            <a:pPr algn="just"/>
            <a:r>
              <a:rPr lang="el-GR" dirty="0"/>
              <a:t>Εισαγωγή </a:t>
            </a:r>
          </a:p>
          <a:p>
            <a:pPr lvl="1" algn="just"/>
            <a:r>
              <a:rPr lang="el-GR" dirty="0"/>
              <a:t>Σχετική ανασκόπηση</a:t>
            </a:r>
          </a:p>
          <a:p>
            <a:pPr lvl="1" algn="just"/>
            <a:r>
              <a:rPr lang="el-GR" dirty="0"/>
              <a:t>Διατύπωση των ερευνητικών ερωτημάτων</a:t>
            </a:r>
          </a:p>
          <a:p>
            <a:pPr algn="just"/>
            <a:r>
              <a:rPr lang="el-GR" dirty="0"/>
              <a:t>Μεθοδολογία ανασκόπησης</a:t>
            </a:r>
          </a:p>
          <a:p>
            <a:pPr algn="just"/>
            <a:r>
              <a:rPr lang="el-GR" dirty="0"/>
              <a:t>Αποτελέσματα</a:t>
            </a:r>
          </a:p>
          <a:p>
            <a:pPr algn="just"/>
            <a:r>
              <a:rPr lang="el-GR" dirty="0"/>
              <a:t>Συμπεράσματα</a:t>
            </a:r>
          </a:p>
          <a:p>
            <a:pPr algn="just"/>
            <a:r>
              <a:rPr lang="el-GR" dirty="0"/>
              <a:t>Μελλοντική εργασία</a:t>
            </a:r>
          </a:p>
          <a:p>
            <a:pPr algn="just"/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3849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Τίτλος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περιεχομένου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b="1" i="1" dirty="0"/>
              <a:t>Ευχαριστώ για τον χρόνο σας!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EA92E-C71D-4A70-BB66-BE7F3D77BB94}" type="slidenum">
              <a:rPr lang="el-GR" smtClean="0"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973725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5306</TotalTime>
  <Words>975</Words>
  <Application>Microsoft Office PowerPoint</Application>
  <PresentationFormat>Ευρεία οθόνη</PresentationFormat>
  <Paragraphs>140</Paragraphs>
  <Slides>12</Slides>
  <Notes>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12</vt:i4>
      </vt:variant>
    </vt:vector>
  </HeadingPairs>
  <TitlesOfParts>
    <vt:vector size="20" baseType="lpstr">
      <vt:lpstr>Arial</vt:lpstr>
      <vt:lpstr>Arvo</vt:lpstr>
      <vt:lpstr>Calibri</vt:lpstr>
      <vt:lpstr>Century Gothic</vt:lpstr>
      <vt:lpstr>Roboto Condensed</vt:lpstr>
      <vt:lpstr>Roboto Condensed Light</vt:lpstr>
      <vt:lpstr>Wingdings 3</vt:lpstr>
      <vt:lpstr>Wisp</vt:lpstr>
      <vt:lpstr>Ανασκόπηση στην βιβλιογραφία  Systematic Literature Review</vt:lpstr>
      <vt:lpstr>Ανασκόπηση στην βιβλιογραφία</vt:lpstr>
      <vt:lpstr>Φάσεις ανασκόπησης της βιβλιογραφίας </vt:lpstr>
      <vt:lpstr>Ερευνητικά Ερωτήματα</vt:lpstr>
      <vt:lpstr>Ερευνητικά Ερωτήματα</vt:lpstr>
      <vt:lpstr>Ανασκόπηση Βιβλιογραφίας  (Kitchenham, 2004)  </vt:lpstr>
      <vt:lpstr>1α. Σχεδιασμός / επιλογή άρθρων</vt:lpstr>
      <vt:lpstr>1β. Σχεδιασμός / κριτήρια</vt:lpstr>
      <vt:lpstr>1γ. Σχεδιασμός / κατηγορίες για ανάλυση και κωδικοποίηση</vt:lpstr>
      <vt:lpstr>2. Υλοποίηση</vt:lpstr>
      <vt:lpstr>3. Συγγραφή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Παρουσίαση του PowerPoint</dc:title>
  <dc:creator>crs</dc:creator>
  <cp:lastModifiedBy>Chris Papakostas</cp:lastModifiedBy>
  <cp:revision>123</cp:revision>
  <dcterms:created xsi:type="dcterms:W3CDTF">2020-01-31T11:13:32Z</dcterms:created>
  <dcterms:modified xsi:type="dcterms:W3CDTF">2023-04-06T17:11:09Z</dcterms:modified>
</cp:coreProperties>
</file>