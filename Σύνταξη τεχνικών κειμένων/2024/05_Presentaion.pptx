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1" r:id="rId7"/>
    <p:sldId id="264" r:id="rId8"/>
    <p:sldId id="265" r:id="rId9"/>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0" d="100"/>
          <a:sy n="100" d="100"/>
        </p:scale>
        <p:origin x="84"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ΘΩΜΑΣ ΝΙΚΟΛΑΟΣ" userId="5dba54ae-9d7c-412f-83d7-ccab0d2c5bdb" providerId="ADAL" clId="{65CFCDCF-93B5-45FB-AE12-EDF24E2DC8A6}"/>
    <pc:docChg chg="undo redo custSel addSld delSld modSld sldOrd">
      <pc:chgData name="ΘΩΜΑΣ ΝΙΚΟΛΑΟΣ" userId="5dba54ae-9d7c-412f-83d7-ccab0d2c5bdb" providerId="ADAL" clId="{65CFCDCF-93B5-45FB-AE12-EDF24E2DC8A6}" dt="2024-05-02T09:15:31.766" v="317" actId="179"/>
      <pc:docMkLst>
        <pc:docMk/>
      </pc:docMkLst>
      <pc:sldChg chg="modSp mod">
        <pc:chgData name="ΘΩΜΑΣ ΝΙΚΟΛΑΟΣ" userId="5dba54ae-9d7c-412f-83d7-ccab0d2c5bdb" providerId="ADAL" clId="{65CFCDCF-93B5-45FB-AE12-EDF24E2DC8A6}" dt="2024-05-02T08:59:16.349" v="15"/>
        <pc:sldMkLst>
          <pc:docMk/>
          <pc:sldMk cId="475152143" sldId="256"/>
        </pc:sldMkLst>
        <pc:spChg chg="mod">
          <ac:chgData name="ΘΩΜΑΣ ΝΙΚΟΛΑΟΣ" userId="5dba54ae-9d7c-412f-83d7-ccab0d2c5bdb" providerId="ADAL" clId="{65CFCDCF-93B5-45FB-AE12-EDF24E2DC8A6}" dt="2024-05-02T08:59:16.349" v="15"/>
          <ac:spMkLst>
            <pc:docMk/>
            <pc:sldMk cId="475152143" sldId="256"/>
            <ac:spMk id="3" creationId="{9FEA4218-2FA8-73D8-E86F-BE6C37DC2196}"/>
          </ac:spMkLst>
        </pc:spChg>
      </pc:sldChg>
      <pc:sldChg chg="addSp delSp modSp new mod setBg">
        <pc:chgData name="ΘΩΜΑΣ ΝΙΚΟΛΑΟΣ" userId="5dba54ae-9d7c-412f-83d7-ccab0d2c5bdb" providerId="ADAL" clId="{65CFCDCF-93B5-45FB-AE12-EDF24E2DC8A6}" dt="2024-05-02T09:12:37.388" v="268" actId="2711"/>
        <pc:sldMkLst>
          <pc:docMk/>
          <pc:sldMk cId="3590010168" sldId="257"/>
        </pc:sldMkLst>
        <pc:spChg chg="mod ord">
          <ac:chgData name="ΘΩΜΑΣ ΝΙΚΟΛΑΟΣ" userId="5dba54ae-9d7c-412f-83d7-ccab0d2c5bdb" providerId="ADAL" clId="{65CFCDCF-93B5-45FB-AE12-EDF24E2DC8A6}" dt="2024-05-02T09:12:37.388" v="268" actId="2711"/>
          <ac:spMkLst>
            <pc:docMk/>
            <pc:sldMk cId="3590010168" sldId="257"/>
            <ac:spMk id="2" creationId="{DD351E26-FBDA-84E9-365C-F91587E40A3A}"/>
          </ac:spMkLst>
        </pc:spChg>
        <pc:spChg chg="del">
          <ac:chgData name="ΘΩΜΑΣ ΝΙΚΟΛΑΟΣ" userId="5dba54ae-9d7c-412f-83d7-ccab0d2c5bdb" providerId="ADAL" clId="{65CFCDCF-93B5-45FB-AE12-EDF24E2DC8A6}" dt="2024-05-02T08:56:34.124" v="1" actId="478"/>
          <ac:spMkLst>
            <pc:docMk/>
            <pc:sldMk cId="3590010168" sldId="257"/>
            <ac:spMk id="3" creationId="{C9AF0CB3-C168-FC48-FD82-FB664784AF85}"/>
          </ac:spMkLst>
        </pc:spChg>
        <pc:spChg chg="add mod">
          <ac:chgData name="ΘΩΜΑΣ ΝΙΚΟΛΑΟΣ" userId="5dba54ae-9d7c-412f-83d7-ccab0d2c5bdb" providerId="ADAL" clId="{65CFCDCF-93B5-45FB-AE12-EDF24E2DC8A6}" dt="2024-05-02T09:00:34.380" v="25" actId="14100"/>
          <ac:spMkLst>
            <pc:docMk/>
            <pc:sldMk cId="3590010168" sldId="257"/>
            <ac:spMk id="4" creationId="{4A0D06D2-55EC-F65A-265D-2B57B06FBE92}"/>
          </ac:spMkLst>
        </pc:spChg>
        <pc:spChg chg="add mod">
          <ac:chgData name="ΘΩΜΑΣ ΝΙΚΟΛΑΟΣ" userId="5dba54ae-9d7c-412f-83d7-ccab0d2c5bdb" providerId="ADAL" clId="{65CFCDCF-93B5-45FB-AE12-EDF24E2DC8A6}" dt="2024-05-02T09:00:36.922" v="26" actId="13822"/>
          <ac:spMkLst>
            <pc:docMk/>
            <pc:sldMk cId="3590010168" sldId="257"/>
            <ac:spMk id="5" creationId="{D160B3C7-3D73-6E9A-4308-4E5BC2187EDD}"/>
          </ac:spMkLst>
        </pc:spChg>
        <pc:spChg chg="add del mod">
          <ac:chgData name="ΘΩΜΑΣ ΝΙΚΟΛΑΟΣ" userId="5dba54ae-9d7c-412f-83d7-ccab0d2c5bdb" providerId="ADAL" clId="{65CFCDCF-93B5-45FB-AE12-EDF24E2DC8A6}" dt="2024-05-02T09:01:23.016" v="38" actId="11529"/>
          <ac:spMkLst>
            <pc:docMk/>
            <pc:sldMk cId="3590010168" sldId="257"/>
            <ac:spMk id="6" creationId="{8FB50989-CCEE-79D6-F189-DA4F6B7292FA}"/>
          </ac:spMkLst>
        </pc:spChg>
        <pc:spChg chg="add del">
          <ac:chgData name="ΘΩΜΑΣ ΝΙΚΟΛΑΟΣ" userId="5dba54ae-9d7c-412f-83d7-ccab0d2c5bdb" providerId="ADAL" clId="{65CFCDCF-93B5-45FB-AE12-EDF24E2DC8A6}" dt="2024-05-02T09:01:17.729" v="33"/>
          <ac:spMkLst>
            <pc:docMk/>
            <pc:sldMk cId="3590010168" sldId="257"/>
            <ac:spMk id="7" creationId="{91792DBC-697C-3922-DD89-60A2FEA9C289}"/>
          </ac:spMkLst>
        </pc:spChg>
        <pc:spChg chg="add del mod">
          <ac:chgData name="ΘΩΜΑΣ ΝΙΚΟΛΑΟΣ" userId="5dba54ae-9d7c-412f-83d7-ccab0d2c5bdb" providerId="ADAL" clId="{65CFCDCF-93B5-45FB-AE12-EDF24E2DC8A6}" dt="2024-05-02T09:01:22.664" v="37"/>
          <ac:spMkLst>
            <pc:docMk/>
            <pc:sldMk cId="3590010168" sldId="257"/>
            <ac:spMk id="8" creationId="{9EBE9CA5-63FC-31F1-5E7C-0AE200344470}"/>
          </ac:spMkLst>
        </pc:spChg>
        <pc:spChg chg="add del mod">
          <ac:chgData name="ΘΩΜΑΣ ΝΙΚΟΛΑΟΣ" userId="5dba54ae-9d7c-412f-83d7-ccab0d2c5bdb" providerId="ADAL" clId="{65CFCDCF-93B5-45FB-AE12-EDF24E2DC8A6}" dt="2024-05-02T09:01:33.349" v="43" actId="478"/>
          <ac:spMkLst>
            <pc:docMk/>
            <pc:sldMk cId="3590010168" sldId="257"/>
            <ac:spMk id="9" creationId="{2C437DAF-FB9A-34D9-1FA9-DF577B1CB11E}"/>
          </ac:spMkLst>
        </pc:spChg>
        <pc:spChg chg="add del mod">
          <ac:chgData name="ΘΩΜΑΣ ΝΙΚΟΛΑΟΣ" userId="5dba54ae-9d7c-412f-83d7-ccab0d2c5bdb" providerId="ADAL" clId="{65CFCDCF-93B5-45FB-AE12-EDF24E2DC8A6}" dt="2024-05-02T09:01:33.349" v="43" actId="478"/>
          <ac:spMkLst>
            <pc:docMk/>
            <pc:sldMk cId="3590010168" sldId="257"/>
            <ac:spMk id="10" creationId="{4F4AFD65-8331-C3E9-4C8E-481760555BCC}"/>
          </ac:spMkLst>
        </pc:spChg>
        <pc:spChg chg="add del mod">
          <ac:chgData name="ΘΩΜΑΣ ΝΙΚΟΛΑΟΣ" userId="5dba54ae-9d7c-412f-83d7-ccab0d2c5bdb" providerId="ADAL" clId="{65CFCDCF-93B5-45FB-AE12-EDF24E2DC8A6}" dt="2024-05-02T09:01:40.469" v="54" actId="767"/>
          <ac:spMkLst>
            <pc:docMk/>
            <pc:sldMk cId="3590010168" sldId="257"/>
            <ac:spMk id="11" creationId="{6812A5A0-5BFE-8757-6F20-83D02DF72B1D}"/>
          </ac:spMkLst>
        </pc:spChg>
        <pc:spChg chg="add del">
          <ac:chgData name="ΘΩΜΑΣ ΝΙΚΟΛΑΟΣ" userId="5dba54ae-9d7c-412f-83d7-ccab0d2c5bdb" providerId="ADAL" clId="{65CFCDCF-93B5-45FB-AE12-EDF24E2DC8A6}" dt="2024-05-02T09:01:39.529" v="52"/>
          <ac:spMkLst>
            <pc:docMk/>
            <pc:sldMk cId="3590010168" sldId="257"/>
            <ac:spMk id="12" creationId="{C7DC5CF0-FD7E-4F0A-1C7E-00F6F2708354}"/>
          </ac:spMkLst>
        </pc:spChg>
        <pc:spChg chg="add mod">
          <ac:chgData name="ΘΩΜΑΣ ΝΙΚΟΛΑΟΣ" userId="5dba54ae-9d7c-412f-83d7-ccab0d2c5bdb" providerId="ADAL" clId="{65CFCDCF-93B5-45FB-AE12-EDF24E2DC8A6}" dt="2024-05-02T09:06:04.565" v="140" actId="20577"/>
          <ac:spMkLst>
            <pc:docMk/>
            <pc:sldMk cId="3590010168" sldId="257"/>
            <ac:spMk id="13" creationId="{CD690D4A-6CDE-01EB-9824-9A357BD63095}"/>
          </ac:spMkLst>
        </pc:spChg>
      </pc:sldChg>
      <pc:sldChg chg="modSp add mod setBg">
        <pc:chgData name="ΘΩΜΑΣ ΝΙΚΟΛΑΟΣ" userId="5dba54ae-9d7c-412f-83d7-ccab0d2c5bdb" providerId="ADAL" clId="{65CFCDCF-93B5-45FB-AE12-EDF24E2DC8A6}" dt="2024-05-02T09:12:33.840" v="267" actId="2711"/>
        <pc:sldMkLst>
          <pc:docMk/>
          <pc:sldMk cId="2030823344" sldId="258"/>
        </pc:sldMkLst>
        <pc:spChg chg="mod">
          <ac:chgData name="ΘΩΜΑΣ ΝΙΚΟΛΑΟΣ" userId="5dba54ae-9d7c-412f-83d7-ccab0d2c5bdb" providerId="ADAL" clId="{65CFCDCF-93B5-45FB-AE12-EDF24E2DC8A6}" dt="2024-05-02T09:12:33.840" v="267" actId="2711"/>
          <ac:spMkLst>
            <pc:docMk/>
            <pc:sldMk cId="2030823344" sldId="258"/>
            <ac:spMk id="2" creationId="{DD351E26-FBDA-84E9-365C-F91587E40A3A}"/>
          </ac:spMkLst>
        </pc:spChg>
        <pc:spChg chg="mod">
          <ac:chgData name="ΘΩΜΑΣ ΝΙΚΟΛΑΟΣ" userId="5dba54ae-9d7c-412f-83d7-ccab0d2c5bdb" providerId="ADAL" clId="{65CFCDCF-93B5-45FB-AE12-EDF24E2DC8A6}" dt="2024-05-02T09:12:30.885" v="266" actId="2711"/>
          <ac:spMkLst>
            <pc:docMk/>
            <pc:sldMk cId="2030823344" sldId="258"/>
            <ac:spMk id="13" creationId="{CD690D4A-6CDE-01EB-9824-9A357BD63095}"/>
          </ac:spMkLst>
        </pc:spChg>
      </pc:sldChg>
      <pc:sldChg chg="new del">
        <pc:chgData name="ΘΩΜΑΣ ΝΙΚΟΛΑΟΣ" userId="5dba54ae-9d7c-412f-83d7-ccab0d2c5bdb" providerId="ADAL" clId="{65CFCDCF-93B5-45FB-AE12-EDF24E2DC8A6}" dt="2024-05-02T09:05:27.659" v="122" actId="47"/>
        <pc:sldMkLst>
          <pc:docMk/>
          <pc:sldMk cId="3595105646" sldId="259"/>
        </pc:sldMkLst>
      </pc:sldChg>
      <pc:sldChg chg="addSp delSp new del mod">
        <pc:chgData name="ΘΩΜΑΣ ΝΙΚΟΛΑΟΣ" userId="5dba54ae-9d7c-412f-83d7-ccab0d2c5bdb" providerId="ADAL" clId="{65CFCDCF-93B5-45FB-AE12-EDF24E2DC8A6}" dt="2024-05-02T09:05:23.222" v="119" actId="47"/>
        <pc:sldMkLst>
          <pc:docMk/>
          <pc:sldMk cId="3893719008" sldId="259"/>
        </pc:sldMkLst>
        <pc:spChg chg="add del">
          <ac:chgData name="ΘΩΜΑΣ ΝΙΚΟΛΑΟΣ" userId="5dba54ae-9d7c-412f-83d7-ccab0d2c5bdb" providerId="ADAL" clId="{65CFCDCF-93B5-45FB-AE12-EDF24E2DC8A6}" dt="2024-05-02T09:05:14.778" v="118" actId="22"/>
          <ac:spMkLst>
            <pc:docMk/>
            <pc:sldMk cId="3893719008" sldId="259"/>
            <ac:spMk id="5" creationId="{676BBB29-D858-E377-64DF-084CAB71A3EE}"/>
          </ac:spMkLst>
        </pc:spChg>
      </pc:sldChg>
      <pc:sldChg chg="modSp add mod setBg">
        <pc:chgData name="ΘΩΜΑΣ ΝΙΚΟΛΑΟΣ" userId="5dba54ae-9d7c-412f-83d7-ccab0d2c5bdb" providerId="ADAL" clId="{65CFCDCF-93B5-45FB-AE12-EDF24E2DC8A6}" dt="2024-05-02T09:12:25.768" v="265" actId="2711"/>
        <pc:sldMkLst>
          <pc:docMk/>
          <pc:sldMk cId="3228483519" sldId="260"/>
        </pc:sldMkLst>
        <pc:spChg chg="mod">
          <ac:chgData name="ΘΩΜΑΣ ΝΙΚΟΛΑΟΣ" userId="5dba54ae-9d7c-412f-83d7-ccab0d2c5bdb" providerId="ADAL" clId="{65CFCDCF-93B5-45FB-AE12-EDF24E2DC8A6}" dt="2024-05-02T09:12:25.768" v="265" actId="2711"/>
          <ac:spMkLst>
            <pc:docMk/>
            <pc:sldMk cId="3228483519" sldId="260"/>
            <ac:spMk id="2" creationId="{DD351E26-FBDA-84E9-365C-F91587E40A3A}"/>
          </ac:spMkLst>
        </pc:spChg>
        <pc:spChg chg="mod">
          <ac:chgData name="ΘΩΜΑΣ ΝΙΚΟΛΑΟΣ" userId="5dba54ae-9d7c-412f-83d7-ccab0d2c5bdb" providerId="ADAL" clId="{65CFCDCF-93B5-45FB-AE12-EDF24E2DC8A6}" dt="2024-05-02T09:12:22.105" v="264" actId="2711"/>
          <ac:spMkLst>
            <pc:docMk/>
            <pc:sldMk cId="3228483519" sldId="260"/>
            <ac:spMk id="13" creationId="{CD690D4A-6CDE-01EB-9824-9A357BD63095}"/>
          </ac:spMkLst>
        </pc:spChg>
      </pc:sldChg>
      <pc:sldChg chg="add del setBg">
        <pc:chgData name="ΘΩΜΑΣ ΝΙΚΟΛΑΟΣ" userId="5dba54ae-9d7c-412f-83d7-ccab0d2c5bdb" providerId="ADAL" clId="{65CFCDCF-93B5-45FB-AE12-EDF24E2DC8A6}" dt="2024-05-02T09:06:35.293" v="146"/>
        <pc:sldMkLst>
          <pc:docMk/>
          <pc:sldMk cId="1491076823" sldId="261"/>
        </pc:sldMkLst>
      </pc:sldChg>
      <pc:sldChg chg="addSp delSp modSp add mod">
        <pc:chgData name="ΘΩΜΑΣ ΝΙΚΟΛΑΟΣ" userId="5dba54ae-9d7c-412f-83d7-ccab0d2c5bdb" providerId="ADAL" clId="{65CFCDCF-93B5-45FB-AE12-EDF24E2DC8A6}" dt="2024-05-02T09:12:15.917" v="263" actId="2711"/>
        <pc:sldMkLst>
          <pc:docMk/>
          <pc:sldMk cId="3354826894" sldId="261"/>
        </pc:sldMkLst>
        <pc:spChg chg="mod">
          <ac:chgData name="ΘΩΜΑΣ ΝΙΚΟΛΑΟΣ" userId="5dba54ae-9d7c-412f-83d7-ccab0d2c5bdb" providerId="ADAL" clId="{65CFCDCF-93B5-45FB-AE12-EDF24E2DC8A6}" dt="2024-05-02T09:09:24.503" v="198"/>
          <ac:spMkLst>
            <pc:docMk/>
            <pc:sldMk cId="3354826894" sldId="261"/>
            <ac:spMk id="2" creationId="{DD351E26-FBDA-84E9-365C-F91587E40A3A}"/>
          </ac:spMkLst>
        </pc:spChg>
        <pc:spChg chg="add del">
          <ac:chgData name="ΘΩΜΑΣ ΝΙΚΟΛΑΟΣ" userId="5dba54ae-9d7c-412f-83d7-ccab0d2c5bdb" providerId="ADAL" clId="{65CFCDCF-93B5-45FB-AE12-EDF24E2DC8A6}" dt="2024-05-02T09:06:50.526" v="155"/>
          <ac:spMkLst>
            <pc:docMk/>
            <pc:sldMk cId="3354826894" sldId="261"/>
            <ac:spMk id="3" creationId="{61B617A0-0771-5DFB-6A51-93BEF524434F}"/>
          </ac:spMkLst>
        </pc:spChg>
        <pc:spChg chg="add del">
          <ac:chgData name="ΘΩΜΑΣ ΝΙΚΟΛΑΟΣ" userId="5dba54ae-9d7c-412f-83d7-ccab0d2c5bdb" providerId="ADAL" clId="{65CFCDCF-93B5-45FB-AE12-EDF24E2DC8A6}" dt="2024-05-02T09:06:50.526" v="155"/>
          <ac:spMkLst>
            <pc:docMk/>
            <pc:sldMk cId="3354826894" sldId="261"/>
            <ac:spMk id="6" creationId="{4852765B-5479-4213-3C5C-D58B3051DF1E}"/>
          </ac:spMkLst>
        </pc:spChg>
        <pc:spChg chg="add del">
          <ac:chgData name="ΘΩΜΑΣ ΝΙΚΟΛΑΟΣ" userId="5dba54ae-9d7c-412f-83d7-ccab0d2c5bdb" providerId="ADAL" clId="{65CFCDCF-93B5-45FB-AE12-EDF24E2DC8A6}" dt="2024-05-02T09:06:54.840" v="158"/>
          <ac:spMkLst>
            <pc:docMk/>
            <pc:sldMk cId="3354826894" sldId="261"/>
            <ac:spMk id="7" creationId="{A16ADD99-CCD4-BF7C-9643-A38B74F1E586}"/>
          </ac:spMkLst>
        </pc:spChg>
        <pc:spChg chg="add del">
          <ac:chgData name="ΘΩΜΑΣ ΝΙΚΟΛΑΟΣ" userId="5dba54ae-9d7c-412f-83d7-ccab0d2c5bdb" providerId="ADAL" clId="{65CFCDCF-93B5-45FB-AE12-EDF24E2DC8A6}" dt="2024-05-02T09:06:54.840" v="158"/>
          <ac:spMkLst>
            <pc:docMk/>
            <pc:sldMk cId="3354826894" sldId="261"/>
            <ac:spMk id="8" creationId="{187A677B-BC01-A363-9C4F-6D0A8220DBF6}"/>
          </ac:spMkLst>
        </pc:spChg>
        <pc:spChg chg="add del mod">
          <ac:chgData name="ΘΩΜΑΣ ΝΙΚΟΛΑΟΣ" userId="5dba54ae-9d7c-412f-83d7-ccab0d2c5bdb" providerId="ADAL" clId="{65CFCDCF-93B5-45FB-AE12-EDF24E2DC8A6}" dt="2024-05-02T09:07:06.495" v="164"/>
          <ac:spMkLst>
            <pc:docMk/>
            <pc:sldMk cId="3354826894" sldId="261"/>
            <ac:spMk id="9" creationId="{FAEAFFE1-95F7-F40E-0191-7A1BFF166D39}"/>
          </ac:spMkLst>
        </pc:spChg>
        <pc:spChg chg="add del">
          <ac:chgData name="ΘΩΜΑΣ ΝΙΚΟΛΑΟΣ" userId="5dba54ae-9d7c-412f-83d7-ccab0d2c5bdb" providerId="ADAL" clId="{65CFCDCF-93B5-45FB-AE12-EDF24E2DC8A6}" dt="2024-05-02T09:07:06.495" v="164"/>
          <ac:spMkLst>
            <pc:docMk/>
            <pc:sldMk cId="3354826894" sldId="261"/>
            <ac:spMk id="10" creationId="{C3537DAD-B85F-FB1E-BBF5-581CB95D8E16}"/>
          </ac:spMkLst>
        </pc:spChg>
        <pc:spChg chg="add mod">
          <ac:chgData name="ΘΩΜΑΣ ΝΙΚΟΛΑΟΣ" userId="5dba54ae-9d7c-412f-83d7-ccab0d2c5bdb" providerId="ADAL" clId="{65CFCDCF-93B5-45FB-AE12-EDF24E2DC8A6}" dt="2024-05-02T09:12:15.917" v="263" actId="2711"/>
          <ac:spMkLst>
            <pc:docMk/>
            <pc:sldMk cId="3354826894" sldId="261"/>
            <ac:spMk id="11" creationId="{9EAB822B-EA17-0485-ECE9-D9E351348108}"/>
          </ac:spMkLst>
        </pc:spChg>
        <pc:spChg chg="add mod">
          <ac:chgData name="ΘΩΜΑΣ ΝΙΚΟΛΑΟΣ" userId="5dba54ae-9d7c-412f-83d7-ccab0d2c5bdb" providerId="ADAL" clId="{65CFCDCF-93B5-45FB-AE12-EDF24E2DC8A6}" dt="2024-05-02T09:07:17.829" v="171" actId="14100"/>
          <ac:spMkLst>
            <pc:docMk/>
            <pc:sldMk cId="3354826894" sldId="261"/>
            <ac:spMk id="12" creationId="{7C836F1F-104D-7058-B962-AF87AEE4683E}"/>
          </ac:spMkLst>
        </pc:spChg>
        <pc:spChg chg="add del mod">
          <ac:chgData name="ΘΩΜΑΣ ΝΙΚΟΛΑΟΣ" userId="5dba54ae-9d7c-412f-83d7-ccab0d2c5bdb" providerId="ADAL" clId="{65CFCDCF-93B5-45FB-AE12-EDF24E2DC8A6}" dt="2024-05-02T09:07:09.968" v="167" actId="478"/>
          <ac:spMkLst>
            <pc:docMk/>
            <pc:sldMk cId="3354826894" sldId="261"/>
            <ac:spMk id="13" creationId="{CD690D4A-6CDE-01EB-9824-9A357BD63095}"/>
          </ac:spMkLst>
        </pc:spChg>
        <pc:picChg chg="add del">
          <ac:chgData name="ΘΩΜΑΣ ΝΙΚΟΛΑΟΣ" userId="5dba54ae-9d7c-412f-83d7-ccab0d2c5bdb" providerId="ADAL" clId="{65CFCDCF-93B5-45FB-AE12-EDF24E2DC8A6}" dt="2024-05-02T09:09:07.701" v="195" actId="478"/>
          <ac:picMkLst>
            <pc:docMk/>
            <pc:sldMk cId="3354826894" sldId="261"/>
            <ac:picMk id="14" creationId="{6492ED54-2443-8855-81FB-49B69E24ED69}"/>
          </ac:picMkLst>
        </pc:picChg>
      </pc:sldChg>
      <pc:sldChg chg="new del">
        <pc:chgData name="ΘΩΜΑΣ ΝΙΚΟΛΑΟΣ" userId="5dba54ae-9d7c-412f-83d7-ccab0d2c5bdb" providerId="ADAL" clId="{65CFCDCF-93B5-45FB-AE12-EDF24E2DC8A6}" dt="2024-05-02T09:06:26.639" v="143" actId="47"/>
        <pc:sldMkLst>
          <pc:docMk/>
          <pc:sldMk cId="3513697609" sldId="261"/>
        </pc:sldMkLst>
      </pc:sldChg>
      <pc:sldChg chg="add del setBg">
        <pc:chgData name="ΘΩΜΑΣ ΝΙΚΟΛΑΟΣ" userId="5dba54ae-9d7c-412f-83d7-ccab0d2c5bdb" providerId="ADAL" clId="{65CFCDCF-93B5-45FB-AE12-EDF24E2DC8A6}" dt="2024-05-02T09:06:29.119" v="144" actId="47"/>
        <pc:sldMkLst>
          <pc:docMk/>
          <pc:sldMk cId="3056200826" sldId="262"/>
        </pc:sldMkLst>
      </pc:sldChg>
      <pc:sldChg chg="addSp delSp modSp add mod ord setBg">
        <pc:chgData name="ΘΩΜΑΣ ΝΙΚΟΛΑΟΣ" userId="5dba54ae-9d7c-412f-83d7-ccab0d2c5bdb" providerId="ADAL" clId="{65CFCDCF-93B5-45FB-AE12-EDF24E2DC8A6}" dt="2024-05-02T09:14:37.177" v="306"/>
        <pc:sldMkLst>
          <pc:docMk/>
          <pc:sldMk cId="3773088570" sldId="262"/>
        </pc:sldMkLst>
        <pc:spChg chg="mod">
          <ac:chgData name="ΘΩΜΑΣ ΝΙΚΟΛΑΟΣ" userId="5dba54ae-9d7c-412f-83d7-ccab0d2c5bdb" providerId="ADAL" clId="{65CFCDCF-93B5-45FB-AE12-EDF24E2DC8A6}" dt="2024-05-02T09:14:01.434" v="290" actId="2711"/>
          <ac:spMkLst>
            <pc:docMk/>
            <pc:sldMk cId="3773088570" sldId="262"/>
            <ac:spMk id="2" creationId="{DD351E26-FBDA-84E9-365C-F91587E40A3A}"/>
          </ac:spMkLst>
        </pc:spChg>
        <pc:spChg chg="mod">
          <ac:chgData name="ΘΩΜΑΣ ΝΙΚΟΛΑΟΣ" userId="5dba54ae-9d7c-412f-83d7-ccab0d2c5bdb" providerId="ADAL" clId="{65CFCDCF-93B5-45FB-AE12-EDF24E2DC8A6}" dt="2024-05-02T09:14:31.935" v="304" actId="2711"/>
          <ac:spMkLst>
            <pc:docMk/>
            <pc:sldMk cId="3773088570" sldId="262"/>
            <ac:spMk id="11" creationId="{9EAB822B-EA17-0485-ECE9-D9E351348108}"/>
          </ac:spMkLst>
        </pc:spChg>
        <pc:picChg chg="add del">
          <ac:chgData name="ΘΩΜΑΣ ΝΙΚΟΛΑΟΣ" userId="5dba54ae-9d7c-412f-83d7-ccab0d2c5bdb" providerId="ADAL" clId="{65CFCDCF-93B5-45FB-AE12-EDF24E2DC8A6}" dt="2024-05-02T09:13:01.882" v="272" actId="478"/>
          <ac:picMkLst>
            <pc:docMk/>
            <pc:sldMk cId="3773088570" sldId="262"/>
            <ac:picMk id="3" creationId="{F9FF033E-CA6A-825B-05CE-943C5A126C22}"/>
          </ac:picMkLst>
        </pc:picChg>
        <pc:picChg chg="add del">
          <ac:chgData name="ΘΩΜΑΣ ΝΙΚΟΛΑΟΣ" userId="5dba54ae-9d7c-412f-83d7-ccab0d2c5bdb" providerId="ADAL" clId="{65CFCDCF-93B5-45FB-AE12-EDF24E2DC8A6}" dt="2024-05-02T09:13:33.194" v="276"/>
          <ac:picMkLst>
            <pc:docMk/>
            <pc:sldMk cId="3773088570" sldId="262"/>
            <ac:picMk id="6" creationId="{E299E7E6-03C2-D8A8-3B9D-C49E238A5E2F}"/>
          </ac:picMkLst>
        </pc:picChg>
      </pc:sldChg>
      <pc:sldChg chg="add del setBg">
        <pc:chgData name="ΘΩΜΑΣ ΝΙΚΟΛΑΟΣ" userId="5dba54ae-9d7c-412f-83d7-ccab0d2c5bdb" providerId="ADAL" clId="{65CFCDCF-93B5-45FB-AE12-EDF24E2DC8A6}" dt="2024-05-02T09:09:04.346" v="193"/>
        <pc:sldMkLst>
          <pc:docMk/>
          <pc:sldMk cId="4054830145" sldId="262"/>
        </pc:sldMkLst>
      </pc:sldChg>
      <pc:sldChg chg="add del setBg">
        <pc:chgData name="ΘΩΜΑΣ ΝΙΚΟΛΑΟΣ" userId="5dba54ae-9d7c-412f-83d7-ccab0d2c5bdb" providerId="ADAL" clId="{65CFCDCF-93B5-45FB-AE12-EDF24E2DC8A6}" dt="2024-05-02T09:12:56.712" v="270"/>
        <pc:sldMkLst>
          <pc:docMk/>
          <pc:sldMk cId="2576663970" sldId="263"/>
        </pc:sldMkLst>
      </pc:sldChg>
      <pc:sldChg chg="new del">
        <pc:chgData name="ΘΩΜΑΣ ΝΙΚΟΛΑΟΣ" userId="5dba54ae-9d7c-412f-83d7-ccab0d2c5bdb" providerId="ADAL" clId="{65CFCDCF-93B5-45FB-AE12-EDF24E2DC8A6}" dt="2024-05-02T09:13:38.141" v="279" actId="47"/>
        <pc:sldMkLst>
          <pc:docMk/>
          <pc:sldMk cId="2726756592" sldId="263"/>
        </pc:sldMkLst>
      </pc:sldChg>
      <pc:sldChg chg="add del setBg">
        <pc:chgData name="ΘΩΜΑΣ ΝΙΚΟΛΑΟΣ" userId="5dba54ae-9d7c-412f-83d7-ccab0d2c5bdb" providerId="ADAL" clId="{65CFCDCF-93B5-45FB-AE12-EDF24E2DC8A6}" dt="2024-05-02T09:13:31.110" v="274"/>
        <pc:sldMkLst>
          <pc:docMk/>
          <pc:sldMk cId="2927152089" sldId="263"/>
        </pc:sldMkLst>
      </pc:sldChg>
      <pc:sldChg chg="add setBg">
        <pc:chgData name="ΘΩΜΑΣ ΝΙΚΟΛΑΟΣ" userId="5dba54ae-9d7c-412f-83d7-ccab0d2c5bdb" providerId="ADAL" clId="{65CFCDCF-93B5-45FB-AE12-EDF24E2DC8A6}" dt="2024-05-02T09:13:47.377" v="283"/>
        <pc:sldMkLst>
          <pc:docMk/>
          <pc:sldMk cId="4187442106" sldId="264"/>
        </pc:sldMkLst>
      </pc:sldChg>
      <pc:sldChg chg="modSp mod setBg">
        <pc:chgData name="ΘΩΜΑΣ ΝΙΚΟΛΑΟΣ" userId="5dba54ae-9d7c-412f-83d7-ccab0d2c5bdb" providerId="ADAL" clId="{65CFCDCF-93B5-45FB-AE12-EDF24E2DC8A6}" dt="2024-05-02T09:15:31.766" v="317" actId="179"/>
        <pc:sldMkLst>
          <pc:docMk/>
          <pc:sldMk cId="178450095" sldId="265"/>
        </pc:sldMkLst>
        <pc:spChg chg="mod">
          <ac:chgData name="ΘΩΜΑΣ ΝΙΚΟΛΑΟΣ" userId="5dba54ae-9d7c-412f-83d7-ccab0d2c5bdb" providerId="ADAL" clId="{65CFCDCF-93B5-45FB-AE12-EDF24E2DC8A6}" dt="2024-05-02T09:14:55.770" v="307"/>
          <ac:spMkLst>
            <pc:docMk/>
            <pc:sldMk cId="178450095" sldId="265"/>
            <ac:spMk id="2" creationId="{DD351E26-FBDA-84E9-365C-F91587E40A3A}"/>
          </ac:spMkLst>
        </pc:spChg>
        <pc:spChg chg="mod">
          <ac:chgData name="ΘΩΜΑΣ ΝΙΚΟΛΑΟΣ" userId="5dba54ae-9d7c-412f-83d7-ccab0d2c5bdb" providerId="ADAL" clId="{65CFCDCF-93B5-45FB-AE12-EDF24E2DC8A6}" dt="2024-05-02T09:15:31.766" v="317" actId="179"/>
          <ac:spMkLst>
            <pc:docMk/>
            <pc:sldMk cId="178450095" sldId="265"/>
            <ac:spMk id="11" creationId="{9EAB822B-EA17-0485-ECE9-D9E35134810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B4B9CC8-034C-8808-1E15-98575C9DE1DB}"/>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03407054-9CAD-BDCA-71D1-13AEEC235E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19F1B413-46C7-479D-3492-274D16C4DEC6}"/>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5" name="Θέση υποσέλιδου 4">
            <a:extLst>
              <a:ext uri="{FF2B5EF4-FFF2-40B4-BE49-F238E27FC236}">
                <a16:creationId xmlns:a16="http://schemas.microsoft.com/office/drawing/2014/main" id="{B8E6F76D-F5EA-06B0-C98A-5F6EA1B36D4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23EAC1CA-7568-F8A3-1837-6E2D97A78DFD}"/>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3364839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7BF68FF-72CC-3C60-130E-73F5B885E8C3}"/>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FA7EED3-A459-8589-E7EE-9CB9E6FC8464}"/>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E35F0597-ADBD-804C-A9FF-B046661E99F8}"/>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5" name="Θέση υποσέλιδου 4">
            <a:extLst>
              <a:ext uri="{FF2B5EF4-FFF2-40B4-BE49-F238E27FC236}">
                <a16:creationId xmlns:a16="http://schemas.microsoft.com/office/drawing/2014/main" id="{AD838A59-6223-25BA-430D-BB7E57887471}"/>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98BF4108-06BC-2BB5-432B-FFC104AC6DE7}"/>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852799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6234F92-34CA-566F-B4E1-DF199A7FC004}"/>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AD18B86A-44C0-6C2E-859C-FCCA080BBB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AD3DCCCA-CD1E-88B4-64EB-3E44F1C50221}"/>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5" name="Θέση υποσέλιδου 4">
            <a:extLst>
              <a:ext uri="{FF2B5EF4-FFF2-40B4-BE49-F238E27FC236}">
                <a16:creationId xmlns:a16="http://schemas.microsoft.com/office/drawing/2014/main" id="{B0941E91-72C6-6A56-53FC-55B185716C4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D95242B0-BE95-22F8-F43E-E1675A2D9B08}"/>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273166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882D121-F926-C7D6-087A-9925296925B2}"/>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4AA69F3-33E8-4F27-F832-D5B440D48ADD}"/>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4E6145A4-B10F-F904-F6D7-03ED83003CED}"/>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25CB0489-F2A4-BF5B-3A42-9A9F9FEAD987}"/>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6" name="Θέση υποσέλιδου 5">
            <a:extLst>
              <a:ext uri="{FF2B5EF4-FFF2-40B4-BE49-F238E27FC236}">
                <a16:creationId xmlns:a16="http://schemas.microsoft.com/office/drawing/2014/main" id="{BF2F3CC8-30DA-C670-8592-D8EEBB1B749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CEA372C0-675E-6A39-9C53-161DCC1CC964}"/>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106664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6AC9194-A3FE-D9F8-68CC-0DED372BECF7}"/>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512A523C-C60A-6AFD-73FB-64B810B34F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E09F590A-2CCF-96E6-B388-4D62EFC69A09}"/>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23E2C4DA-58DD-D01B-7AD2-4093363F9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C244D58E-8EDF-3D00-5AE0-6E045943CF47}"/>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0F5702BE-9940-498B-CE0C-6BF5D1BD9AA5}"/>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8" name="Θέση υποσέλιδου 7">
            <a:extLst>
              <a:ext uri="{FF2B5EF4-FFF2-40B4-BE49-F238E27FC236}">
                <a16:creationId xmlns:a16="http://schemas.microsoft.com/office/drawing/2014/main" id="{FF4CC9BA-5FC1-0307-B87D-ED9B5328DC92}"/>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F48D1851-DA32-2325-5E4E-C4493BD27935}"/>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3124685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7A0BBE0-7E17-E139-0D47-AD3FAE46D2AF}"/>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05DD9687-7AD5-7DF6-7FB7-14CC28FDA95E}"/>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4" name="Θέση υποσέλιδου 3">
            <a:extLst>
              <a:ext uri="{FF2B5EF4-FFF2-40B4-BE49-F238E27FC236}">
                <a16:creationId xmlns:a16="http://schemas.microsoft.com/office/drawing/2014/main" id="{C2FB1CF9-1EA6-77BE-D4CA-D08054BC1C26}"/>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9D1D35C6-0F21-F52E-4B80-097C94B63332}"/>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3141996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01409B5-8129-CECD-3DAE-705963DCC094}"/>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3" name="Θέση υποσέλιδου 2">
            <a:extLst>
              <a:ext uri="{FF2B5EF4-FFF2-40B4-BE49-F238E27FC236}">
                <a16:creationId xmlns:a16="http://schemas.microsoft.com/office/drawing/2014/main" id="{73680394-2F60-0363-04B2-E3B049BB79EA}"/>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F445AC9-7F8F-ABCC-65EF-AF91F64CB04B}"/>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1706522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B7D832C-5C87-441C-2F56-49A0CF76400E}"/>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125A652-8D69-E0E3-656A-E6BC2D3E72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2D861DBB-D579-78EC-AC81-444A1B782B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15ABEB69-7FAA-FC87-8C87-FC17338CB44D}"/>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6" name="Θέση υποσέλιδου 5">
            <a:extLst>
              <a:ext uri="{FF2B5EF4-FFF2-40B4-BE49-F238E27FC236}">
                <a16:creationId xmlns:a16="http://schemas.microsoft.com/office/drawing/2014/main" id="{245EAF28-75C0-3B57-63D6-1DEFC7C9E35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148EA419-63D4-A47B-18E4-1C44E508C7A3}"/>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22808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478547F-998C-6DAE-CE30-0B0AECAC3EA1}"/>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CA6197E3-A6AB-7A7D-7FA1-A5189810EE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CC7EFD16-26CE-98EF-5BB5-877D433E9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8FDE2439-3E5C-D8DC-92B5-CEAF984E7459}"/>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6" name="Θέση υποσέλιδου 5">
            <a:extLst>
              <a:ext uri="{FF2B5EF4-FFF2-40B4-BE49-F238E27FC236}">
                <a16:creationId xmlns:a16="http://schemas.microsoft.com/office/drawing/2014/main" id="{5DD3B6ED-84B0-12CB-BA82-6EAB8B4D150F}"/>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B0FF08BF-1A41-5999-225D-155D7F94E41C}"/>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2175473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6781802-9170-4AA8-0C4B-91383A3781A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762378FF-A49C-647F-1186-75028DCD153E}"/>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5A8794B8-9CF8-D14D-72FB-4637A6A05D9D}"/>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5" name="Θέση υποσέλιδου 4">
            <a:extLst>
              <a:ext uri="{FF2B5EF4-FFF2-40B4-BE49-F238E27FC236}">
                <a16:creationId xmlns:a16="http://schemas.microsoft.com/office/drawing/2014/main" id="{12C953FC-163C-EC3B-8174-9D0D001B545C}"/>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E15F6C64-6DAF-A13A-4D9C-9BEEB43D33E4}"/>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130607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0CCA87DC-5014-690C-0583-5CDC2175989C}"/>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BEDC4EBF-8EE1-28A8-3CF5-818F485FF772}"/>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5478868B-7F48-4B1A-6D1A-B7466E2B70F3}"/>
              </a:ext>
            </a:extLst>
          </p:cNvPr>
          <p:cNvSpPr>
            <a:spLocks noGrp="1"/>
          </p:cNvSpPr>
          <p:nvPr>
            <p:ph type="dt" sz="half" idx="10"/>
          </p:nvPr>
        </p:nvSpPr>
        <p:spPr/>
        <p:txBody>
          <a:bodyPr/>
          <a:lstStyle/>
          <a:p>
            <a:fld id="{00315BA7-7D28-4E1A-A0E0-FAEC9921EE83}" type="datetimeFigureOut">
              <a:rPr lang="el-GR" smtClean="0"/>
              <a:t>2/5/2024</a:t>
            </a:fld>
            <a:endParaRPr lang="el-GR"/>
          </a:p>
        </p:txBody>
      </p:sp>
      <p:sp>
        <p:nvSpPr>
          <p:cNvPr id="5" name="Θέση υποσέλιδου 4">
            <a:extLst>
              <a:ext uri="{FF2B5EF4-FFF2-40B4-BE49-F238E27FC236}">
                <a16:creationId xmlns:a16="http://schemas.microsoft.com/office/drawing/2014/main" id="{A1428A08-0475-6A07-A607-7045B980836B}"/>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CEE8C95B-A1D2-2C9E-8E8B-ECCA07C288B4}"/>
              </a:ext>
            </a:extLst>
          </p:cNvPr>
          <p:cNvSpPr>
            <a:spLocks noGrp="1"/>
          </p:cNvSpPr>
          <p:nvPr>
            <p:ph type="sldNum" sz="quarter" idx="12"/>
          </p:nvPr>
        </p:nvSpPr>
        <p:spPr/>
        <p:txBody>
          <a:bodyPr/>
          <a:lstStyle/>
          <a:p>
            <a:fld id="{2D82D841-5036-417B-82BF-38D7FB15BC04}" type="slidenum">
              <a:rPr lang="el-GR" smtClean="0"/>
              <a:t>‹#›</a:t>
            </a:fld>
            <a:endParaRPr lang="el-GR"/>
          </a:p>
        </p:txBody>
      </p:sp>
    </p:spTree>
    <p:extLst>
      <p:ext uri="{BB962C8B-B14F-4D97-AF65-F5344CB8AC3E}">
        <p14:creationId xmlns:p14="http://schemas.microsoft.com/office/powerpoint/2010/main" val="3912899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5287C685-DA05-B3A9-D48E-BF86B4862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51FB9709-B82E-4B2A-D040-0F41A67FFD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4FC430F6-A486-9C38-C7CC-5CF76634FE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315BA7-7D28-4E1A-A0E0-FAEC9921EE83}" type="datetimeFigureOut">
              <a:rPr lang="el-GR" smtClean="0"/>
              <a:t>2/5/2024</a:t>
            </a:fld>
            <a:endParaRPr lang="el-GR"/>
          </a:p>
        </p:txBody>
      </p:sp>
      <p:sp>
        <p:nvSpPr>
          <p:cNvPr id="5" name="Θέση υποσέλιδου 4">
            <a:extLst>
              <a:ext uri="{FF2B5EF4-FFF2-40B4-BE49-F238E27FC236}">
                <a16:creationId xmlns:a16="http://schemas.microsoft.com/office/drawing/2014/main" id="{8B7516AE-EEA4-C437-1E46-F9DC0E9F9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EE3397D-491E-DA2E-7E5F-83E434226B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82D841-5036-417B-82BF-38D7FB15BC04}" type="slidenum">
              <a:rPr lang="el-GR" smtClean="0"/>
              <a:t>‹#›</a:t>
            </a:fld>
            <a:endParaRPr lang="el-GR"/>
          </a:p>
        </p:txBody>
      </p:sp>
    </p:spTree>
    <p:extLst>
      <p:ext uri="{BB962C8B-B14F-4D97-AF65-F5344CB8AC3E}">
        <p14:creationId xmlns:p14="http://schemas.microsoft.com/office/powerpoint/2010/main" val="1516351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Ορθογώνιο 10">
            <a:extLst>
              <a:ext uri="{FF2B5EF4-FFF2-40B4-BE49-F238E27FC236}">
                <a16:creationId xmlns:a16="http://schemas.microsoft.com/office/drawing/2014/main" id="{7CC64834-E77A-5E75-FA84-67FD4AC48134}"/>
              </a:ext>
            </a:extLst>
          </p:cNvPr>
          <p:cNvSpPr/>
          <p:nvPr/>
        </p:nvSpPr>
        <p:spPr>
          <a:xfrm>
            <a:off x="0" y="-1"/>
            <a:ext cx="5334000" cy="6858001"/>
          </a:xfrm>
          <a:prstGeom prst="rect">
            <a:avLst/>
          </a:prstGeom>
          <a:solidFill>
            <a:schemeClr val="tx1">
              <a:lumMod val="95000"/>
              <a:lumOff val="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dirty="0">
              <a:solidFill>
                <a:schemeClr val="bg1"/>
              </a:solidFill>
              <a:highlight>
                <a:srgbClr val="FFFF00"/>
              </a:highlight>
            </a:endParaRPr>
          </a:p>
        </p:txBody>
      </p:sp>
      <p:sp>
        <p:nvSpPr>
          <p:cNvPr id="2" name="Τίτλος 1">
            <a:extLst>
              <a:ext uri="{FF2B5EF4-FFF2-40B4-BE49-F238E27FC236}">
                <a16:creationId xmlns:a16="http://schemas.microsoft.com/office/drawing/2014/main" id="{E3FD562F-59C3-562A-08FB-E8078544EF16}"/>
              </a:ext>
            </a:extLst>
          </p:cNvPr>
          <p:cNvSpPr>
            <a:spLocks noGrp="1"/>
          </p:cNvSpPr>
          <p:nvPr>
            <p:ph type="ctrTitle"/>
          </p:nvPr>
        </p:nvSpPr>
        <p:spPr>
          <a:xfrm>
            <a:off x="-89284" y="2098340"/>
            <a:ext cx="5269345" cy="2387600"/>
          </a:xfrm>
        </p:spPr>
        <p:txBody>
          <a:bodyPr>
            <a:normAutofit fontScale="90000"/>
          </a:bodyPr>
          <a:lstStyle/>
          <a:p>
            <a:r>
              <a:rPr lang="en-US" b="1" dirty="0">
                <a:blipFill dpi="0" rotWithShape="1">
                  <a:blip r:embed="rId2">
                    <a:extLst>
                      <a:ext uri="{28A0092B-C50C-407E-A947-70E740481C1C}">
                        <a14:useLocalDpi xmlns:a14="http://schemas.microsoft.com/office/drawing/2010/main" val="0"/>
                      </a:ext>
                    </a:extLst>
                  </a:blip>
                  <a:srcRect/>
                  <a:stretch>
                    <a:fillRect/>
                  </a:stretch>
                </a:blipFill>
              </a:rPr>
              <a:t>IoT and Machine </a:t>
            </a:r>
            <a:br>
              <a:rPr lang="en-US" b="1" dirty="0">
                <a:blipFill dpi="0" rotWithShape="1">
                  <a:blip r:embed="rId2">
                    <a:extLst>
                      <a:ext uri="{28A0092B-C50C-407E-A947-70E740481C1C}">
                        <a14:useLocalDpi xmlns:a14="http://schemas.microsoft.com/office/drawing/2010/main" val="0"/>
                      </a:ext>
                    </a:extLst>
                  </a:blip>
                  <a:srcRect/>
                  <a:stretch>
                    <a:fillRect/>
                  </a:stretch>
                </a:blipFill>
              </a:rPr>
            </a:br>
            <a:r>
              <a:rPr lang="en-US" b="1" dirty="0">
                <a:blipFill dpi="0" rotWithShape="1">
                  <a:blip r:embed="rId2">
                    <a:extLst>
                      <a:ext uri="{28A0092B-C50C-407E-A947-70E740481C1C}">
                        <a14:useLocalDpi xmlns:a14="http://schemas.microsoft.com/office/drawing/2010/main" val="0"/>
                      </a:ext>
                    </a:extLst>
                  </a:blip>
                  <a:srcRect/>
                  <a:stretch>
                    <a:fillRect/>
                  </a:stretch>
                </a:blipFill>
              </a:rPr>
              <a:t>Learning for </a:t>
            </a:r>
            <a:br>
              <a:rPr lang="en-US" b="1" dirty="0">
                <a:blipFill dpi="0" rotWithShape="1">
                  <a:blip r:embed="rId2">
                    <a:extLst>
                      <a:ext uri="{28A0092B-C50C-407E-A947-70E740481C1C}">
                        <a14:useLocalDpi xmlns:a14="http://schemas.microsoft.com/office/drawing/2010/main" val="0"/>
                      </a:ext>
                    </a:extLst>
                  </a:blip>
                  <a:srcRect/>
                  <a:stretch>
                    <a:fillRect/>
                  </a:stretch>
                </a:blipFill>
              </a:rPr>
            </a:br>
            <a:r>
              <a:rPr lang="en-US" b="1" dirty="0">
                <a:blipFill dpi="0" rotWithShape="1">
                  <a:blip r:embed="rId2">
                    <a:extLst>
                      <a:ext uri="{28A0092B-C50C-407E-A947-70E740481C1C}">
                        <a14:useLocalDpi xmlns:a14="http://schemas.microsoft.com/office/drawing/2010/main" val="0"/>
                      </a:ext>
                    </a:extLst>
                  </a:blip>
                  <a:srcRect/>
                  <a:stretch>
                    <a:fillRect/>
                  </a:stretch>
                </a:blipFill>
              </a:rPr>
              <a:t>the Monitoring</a:t>
            </a:r>
            <a:br>
              <a:rPr lang="en-US" b="1" dirty="0">
                <a:blipFill dpi="0" rotWithShape="1">
                  <a:blip r:embed="rId2">
                    <a:extLst>
                      <a:ext uri="{28A0092B-C50C-407E-A947-70E740481C1C}">
                        <a14:useLocalDpi xmlns:a14="http://schemas.microsoft.com/office/drawing/2010/main" val="0"/>
                      </a:ext>
                    </a:extLst>
                  </a:blip>
                  <a:srcRect/>
                  <a:stretch>
                    <a:fillRect/>
                  </a:stretch>
                </a:blipFill>
              </a:rPr>
            </a:br>
            <a:r>
              <a:rPr lang="en-US" b="1" dirty="0">
                <a:blipFill dpi="0" rotWithShape="1">
                  <a:blip r:embed="rId2">
                    <a:extLst>
                      <a:ext uri="{28A0092B-C50C-407E-A947-70E740481C1C}">
                        <a14:useLocalDpi xmlns:a14="http://schemas.microsoft.com/office/drawing/2010/main" val="0"/>
                      </a:ext>
                    </a:extLst>
                  </a:blip>
                  <a:srcRect/>
                  <a:stretch>
                    <a:fillRect/>
                  </a:stretch>
                </a:blipFill>
              </a:rPr>
              <a:t> and Management of Smart Places</a:t>
            </a:r>
            <a:endParaRPr lang="el-GR" b="1" dirty="0">
              <a:blipFill dpi="0" rotWithShape="1">
                <a:blip r:embed="rId2">
                  <a:extLst>
                    <a:ext uri="{28A0092B-C50C-407E-A947-70E740481C1C}">
                      <a14:useLocalDpi xmlns:a14="http://schemas.microsoft.com/office/drawing/2010/main" val="0"/>
                    </a:ext>
                  </a:extLst>
                </a:blip>
                <a:srcRect/>
                <a:stretch>
                  <a:fillRect/>
                </a:stretch>
              </a:blipFill>
            </a:endParaRPr>
          </a:p>
        </p:txBody>
      </p:sp>
      <p:sp>
        <p:nvSpPr>
          <p:cNvPr id="3" name="Υπότιτλος 2">
            <a:extLst>
              <a:ext uri="{FF2B5EF4-FFF2-40B4-BE49-F238E27FC236}">
                <a16:creationId xmlns:a16="http://schemas.microsoft.com/office/drawing/2014/main" id="{9FEA4218-2FA8-73D8-E86F-BE6C37DC2196}"/>
              </a:ext>
            </a:extLst>
          </p:cNvPr>
          <p:cNvSpPr>
            <a:spLocks noGrp="1"/>
          </p:cNvSpPr>
          <p:nvPr>
            <p:ph type="subTitle" idx="1"/>
          </p:nvPr>
        </p:nvSpPr>
        <p:spPr>
          <a:xfrm>
            <a:off x="76969" y="4928519"/>
            <a:ext cx="5180061" cy="1655762"/>
          </a:xfrm>
        </p:spPr>
        <p:txBody>
          <a:bodyPr>
            <a:normAutofit lnSpcReduction="10000"/>
          </a:bodyPr>
          <a:lstStyle/>
          <a:p>
            <a:r>
              <a:rPr lang="en-US" dirty="0">
                <a:blipFill dpi="0" rotWithShape="1">
                  <a:blip r:embed="rId2">
                    <a:extLst>
                      <a:ext uri="{28A0092B-C50C-407E-A947-70E740481C1C}">
                        <a14:useLocalDpi xmlns:a14="http://schemas.microsoft.com/office/drawing/2010/main" val="0"/>
                      </a:ext>
                    </a:extLst>
                  </a:blip>
                  <a:srcRect/>
                  <a:stretch>
                    <a:fillRect/>
                  </a:stretch>
                </a:blipFill>
              </a:rPr>
              <a:t>Addressing Key Research Questions and Challenges</a:t>
            </a:r>
          </a:p>
          <a:p>
            <a:r>
              <a:rPr lang="en-US" dirty="0">
                <a:blipFill dpi="0" rotWithShape="1">
                  <a:blip r:embed="rId2">
                    <a:extLst>
                      <a:ext uri="{28A0092B-C50C-407E-A947-70E740481C1C}">
                        <a14:useLocalDpi xmlns:a14="http://schemas.microsoft.com/office/drawing/2010/main" val="0"/>
                      </a:ext>
                    </a:extLst>
                  </a:blip>
                  <a:srcRect/>
                  <a:stretch>
                    <a:fillRect/>
                  </a:stretch>
                </a:blipFill>
              </a:rPr>
              <a:t>Nikolaos Thomas</a:t>
            </a:r>
          </a:p>
          <a:p>
            <a:r>
              <a:rPr lang="en-US" dirty="0">
                <a:blipFill dpi="0" rotWithShape="1">
                  <a:blip r:embed="rId2">
                    <a:extLst>
                      <a:ext uri="{28A0092B-C50C-407E-A947-70E740481C1C}">
                        <a14:useLocalDpi xmlns:a14="http://schemas.microsoft.com/office/drawing/2010/main" val="0"/>
                      </a:ext>
                    </a:extLst>
                  </a:blip>
                  <a:srcRect/>
                  <a:stretch>
                    <a:fillRect/>
                  </a:stretch>
                </a:blipFill>
              </a:rPr>
              <a:t>May 2024</a:t>
            </a:r>
          </a:p>
        </p:txBody>
      </p:sp>
      <p:pic>
        <p:nvPicPr>
          <p:cNvPr id="9" name="Εικόνα 8">
            <a:extLst>
              <a:ext uri="{FF2B5EF4-FFF2-40B4-BE49-F238E27FC236}">
                <a16:creationId xmlns:a16="http://schemas.microsoft.com/office/drawing/2014/main" id="{C38B08DB-5B33-DBA8-8D81-F635CD1864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475152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Arial" panose="020B0604020202020204" pitchFamily="34" charset="0"/>
                <a:cs typeface="Arial" panose="020B0604020202020204" pitchFamily="34" charset="0"/>
              </a:rPr>
              <a:t>Introduction</a:t>
            </a:r>
            <a:endParaRPr lang="el-GR" dirty="0">
              <a:latin typeface="Arial" panose="020B0604020202020204" pitchFamily="34" charset="0"/>
              <a:cs typeface="Arial" panose="020B0604020202020204" pitchFamily="34" charset="0"/>
            </a:endParaRPr>
          </a:p>
        </p:txBody>
      </p:sp>
      <p:sp>
        <p:nvSpPr>
          <p:cNvPr id="13" name="Rectangle 5">
            <a:extLst>
              <a:ext uri="{FF2B5EF4-FFF2-40B4-BE49-F238E27FC236}">
                <a16:creationId xmlns:a16="http://schemas.microsoft.com/office/drawing/2014/main" id="{CD690D4A-6CDE-01EB-9824-9A357BD63095}"/>
              </a:ext>
            </a:extLst>
          </p:cNvPr>
          <p:cNvSpPr>
            <a:spLocks noChangeArrowheads="1"/>
          </p:cNvSpPr>
          <p:nvPr/>
        </p:nvSpPr>
        <p:spPr bwMode="auto">
          <a:xfrm>
            <a:off x="989813" y="2295514"/>
            <a:ext cx="10048973" cy="3170099"/>
          </a:xfrm>
          <a:prstGeom prst="rect">
            <a:avLst/>
          </a:prstGeom>
          <a:solidFill>
            <a:schemeClr val="tx1"/>
          </a:solidFill>
          <a:ln>
            <a:noFill/>
          </a:ln>
          <a:effectLst>
            <a:innerShdw blurRad="63500" dist="50800" dir="10800000">
              <a:prstClr val="black">
                <a:alpha val="50000"/>
              </a:prstClr>
            </a:innerShdw>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l-GR" altLang="el-GR" sz="2000" b="0" i="0" u="none" strike="noStrike" cap="none" normalizeH="0" baseline="0" dirty="0">
                <a:ln>
                  <a:noFill/>
                </a:ln>
                <a:solidFill>
                  <a:schemeClr val="bg1"/>
                </a:solidFill>
                <a:effectLst/>
                <a:latin typeface="Arial" panose="020B0604020202020204" pitchFamily="34" charset="0"/>
              </a:rPr>
              <a:t>Smart </a:t>
            </a:r>
            <a:r>
              <a:rPr kumimoji="0" lang="el-GR" altLang="el-GR" sz="2000" b="0" i="0" u="none" strike="noStrike" cap="none" normalizeH="0" baseline="0" dirty="0" err="1">
                <a:ln>
                  <a:noFill/>
                </a:ln>
                <a:solidFill>
                  <a:schemeClr val="bg1"/>
                </a:solidFill>
                <a:effectLst/>
                <a:latin typeface="Arial" panose="020B0604020202020204" pitchFamily="34" charset="0"/>
              </a:rPr>
              <a:t>cities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are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rapidly</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emerging</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as</a:t>
            </a:r>
            <a:r>
              <a:rPr kumimoji="0" lang="el-GR" altLang="el-GR" sz="2000" b="0" i="0" u="none" strike="noStrike" cap="none" normalizeH="0" baseline="0" dirty="0">
                <a:ln>
                  <a:noFill/>
                </a:ln>
                <a:solidFill>
                  <a:schemeClr val="bg1"/>
                </a:solidFill>
                <a:effectLst/>
                <a:latin typeface="Arial" panose="020B0604020202020204" pitchFamily="34" charset="0"/>
              </a:rPr>
              <a:t> the </a:t>
            </a:r>
            <a:r>
              <a:rPr kumimoji="0" lang="el-GR" altLang="el-GR" sz="2000" b="0" i="0" u="none" strike="noStrike" cap="none" normalizeH="0" baseline="0" dirty="0" err="1">
                <a:ln>
                  <a:noFill/>
                </a:ln>
                <a:solidFill>
                  <a:schemeClr val="bg1"/>
                </a:solidFill>
                <a:effectLst/>
                <a:latin typeface="Arial" panose="020B0604020202020204" pitchFamily="34" charset="0"/>
              </a:rPr>
              <a:t>future</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urban</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development</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leveraging</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cutting-edge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technologies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to</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enhance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efficiency</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sustainability</a:t>
            </a:r>
            <a:r>
              <a:rPr kumimoji="0" lang="el-GR" altLang="el-GR" sz="2000" b="0" i="0" u="none" strike="noStrike" cap="none" normalizeH="0" baseline="0" dirty="0">
                <a:ln>
                  <a:noFill/>
                </a:ln>
                <a:solidFill>
                  <a:schemeClr val="bg1"/>
                </a:solidFill>
                <a:effectLst/>
                <a:latin typeface="Arial" panose="020B0604020202020204" pitchFamily="34" charset="0"/>
              </a:rPr>
              <a:t>, and </a:t>
            </a:r>
            <a:r>
              <a:rPr kumimoji="0" lang="el-GR" altLang="el-GR" sz="2000" b="0" i="0" u="none" strike="noStrike" cap="none" normalizeH="0" baseline="0" dirty="0" err="1">
                <a:ln>
                  <a:noFill/>
                </a:ln>
                <a:solidFill>
                  <a:schemeClr val="bg1"/>
                </a:solidFill>
                <a:effectLst/>
                <a:latin typeface="Arial" panose="020B0604020202020204" pitchFamily="34" charset="0"/>
              </a:rPr>
              <a:t>quality</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life</a:t>
            </a:r>
            <a:r>
              <a:rPr kumimoji="0" lang="el-GR" altLang="el-GR" sz="2000" b="0" i="0" u="none" strike="noStrike" cap="none" normalizeH="0" baseline="0" dirty="0">
                <a:ln>
                  <a:noFill/>
                </a:ln>
                <a:solidFill>
                  <a:schemeClr val="bg1"/>
                </a:solidFill>
                <a:effectLst/>
                <a:latin typeface="Arial" panose="020B0604020202020204" pitchFamily="34" charset="0"/>
              </a:rPr>
              <a:t> for </a:t>
            </a:r>
            <a:r>
              <a:rPr kumimoji="0" lang="el-GR" altLang="el-GR" sz="2000" b="0" i="0" u="none" strike="noStrike" cap="none" normalizeH="0" baseline="0" dirty="0" err="1">
                <a:ln>
                  <a:noFill/>
                </a:ln>
                <a:solidFill>
                  <a:schemeClr val="bg1"/>
                </a:solidFill>
                <a:effectLst/>
                <a:latin typeface="Arial" panose="020B0604020202020204" pitchFamily="34" charset="0"/>
              </a:rPr>
              <a:t>residents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Central</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to</a:t>
            </a:r>
            <a:r>
              <a:rPr kumimoji="0" lang="el-GR" altLang="el-GR" sz="2000" b="0" i="0" u="none" strike="noStrike" cap="none" normalizeH="0" baseline="0" dirty="0">
                <a:ln>
                  <a:noFill/>
                </a:ln>
                <a:solidFill>
                  <a:schemeClr val="bg1"/>
                </a:solidFill>
                <a:effectLst/>
                <a:latin typeface="Arial" panose="020B0604020202020204" pitchFamily="34" charset="0"/>
              </a:rPr>
              <a:t> the </a:t>
            </a:r>
            <a:r>
              <a:rPr kumimoji="0" lang="el-GR" altLang="el-GR" sz="2000" b="0" i="0" u="none" strike="noStrike" cap="none" normalizeH="0" baseline="0" dirty="0" err="1">
                <a:ln>
                  <a:noFill/>
                </a:ln>
                <a:solidFill>
                  <a:schemeClr val="bg1"/>
                </a:solidFill>
                <a:effectLst/>
                <a:latin typeface="Arial" panose="020B0604020202020204" pitchFamily="34" charset="0"/>
              </a:rPr>
              <a:t>concept</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smart</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cities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is</a:t>
            </a:r>
            <a:r>
              <a:rPr kumimoji="0" lang="el-GR" altLang="el-GR" sz="2000" b="0" i="0" u="none" strike="noStrike" cap="none" normalizeH="0" baseline="0" dirty="0">
                <a:ln>
                  <a:noFill/>
                </a:ln>
                <a:solidFill>
                  <a:schemeClr val="bg1"/>
                </a:solidFill>
                <a:effectLst/>
                <a:latin typeface="Arial" panose="020B0604020202020204" pitchFamily="34" charset="0"/>
              </a:rPr>
              <a:t> the </a:t>
            </a:r>
            <a:r>
              <a:rPr kumimoji="0" lang="el-GR" altLang="el-GR" sz="2000" b="0" i="0" u="none" strike="noStrike" cap="none" normalizeH="0" baseline="0" dirty="0" err="1">
                <a:ln>
                  <a:noFill/>
                </a:ln>
                <a:solidFill>
                  <a:schemeClr val="bg1"/>
                </a:solidFill>
                <a:effectLst/>
                <a:latin typeface="Arial" panose="020B0604020202020204" pitchFamily="34" charset="0"/>
              </a:rPr>
              <a:t>integration</a:t>
            </a:r>
            <a:r>
              <a:rPr kumimoji="0" lang="el-GR" altLang="el-GR" sz="2000" b="0" i="0" u="none" strike="noStrike" cap="none" normalizeH="0" baseline="0" dirty="0">
                <a:ln>
                  <a:noFill/>
                </a:ln>
                <a:solidFill>
                  <a:schemeClr val="bg1"/>
                </a:solidFill>
                <a:effectLst/>
                <a:latin typeface="Arial" panose="020B0604020202020204" pitchFamily="34" charset="0"/>
              </a:rPr>
              <a:t> of Internet of </a:t>
            </a:r>
            <a:r>
              <a:rPr kumimoji="0" lang="el-GR" altLang="el-GR" sz="2000" b="0" i="0" u="none" strike="noStrike" cap="none" normalizeH="0" baseline="0" dirty="0" err="1">
                <a:ln>
                  <a:noFill/>
                </a:ln>
                <a:solidFill>
                  <a:schemeClr val="bg1"/>
                </a:solidFill>
                <a:effectLst/>
                <a:latin typeface="Arial" panose="020B0604020202020204" pitchFamily="34" charset="0"/>
              </a:rPr>
              <a:t>Things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IoT</a:t>
            </a:r>
            <a:r>
              <a:rPr kumimoji="0" lang="el-GR" altLang="el-GR" sz="2000" b="0" i="0" u="none" strike="noStrike" cap="none" normalizeH="0" baseline="0" dirty="0">
                <a:ln>
                  <a:noFill/>
                </a:ln>
                <a:solidFill>
                  <a:schemeClr val="bg1"/>
                </a:solidFill>
                <a:effectLst/>
                <a:latin typeface="Arial" panose="020B0604020202020204" pitchFamily="34" charset="0"/>
              </a:rPr>
              <a:t>) and </a:t>
            </a:r>
            <a:r>
              <a:rPr kumimoji="0" lang="el-GR" altLang="el-GR" sz="2000" b="0" i="0" u="none" strike="noStrike" cap="none" normalizeH="0" baseline="0" dirty="0" err="1">
                <a:ln>
                  <a:noFill/>
                </a:ln>
                <a:solidFill>
                  <a:schemeClr val="bg1"/>
                </a:solidFill>
                <a:effectLst/>
                <a:latin typeface="Arial" panose="020B0604020202020204" pitchFamily="34" charset="0"/>
              </a:rPr>
              <a:t>Machine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Learning</a:t>
            </a:r>
            <a:r>
              <a:rPr kumimoji="0" lang="el-GR" altLang="el-GR" sz="2000" b="0" i="0" u="none" strike="noStrike" cap="none" normalizeH="0" baseline="0" dirty="0">
                <a:ln>
                  <a:noFill/>
                </a:ln>
                <a:solidFill>
                  <a:schemeClr val="bg1"/>
                </a:solidFill>
                <a:effectLst/>
                <a:latin typeface="Arial" panose="020B0604020202020204" pitchFamily="34" charset="0"/>
              </a:rPr>
              <a:t> (ML) </a:t>
            </a:r>
            <a:r>
              <a:rPr kumimoji="0" lang="el-GR" altLang="el-GR" sz="2000" b="0" i="0" u="none" strike="noStrike" cap="none" normalizeH="0" baseline="0" dirty="0" err="1">
                <a:ln>
                  <a:noFill/>
                </a:ln>
                <a:solidFill>
                  <a:schemeClr val="bg1"/>
                </a:solidFill>
                <a:effectLst/>
                <a:latin typeface="Arial" panose="020B0604020202020204" pitchFamily="34" charset="0"/>
              </a:rPr>
              <a:t>technologies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enabling</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real-time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monitoring</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analysis</a:t>
            </a:r>
            <a:r>
              <a:rPr kumimoji="0" lang="el-GR" altLang="el-GR" sz="2000" b="0" i="0" u="none" strike="noStrike" cap="none" normalizeH="0" baseline="0" dirty="0">
                <a:ln>
                  <a:noFill/>
                </a:ln>
                <a:solidFill>
                  <a:schemeClr val="bg1"/>
                </a:solidFill>
                <a:effectLst/>
                <a:latin typeface="Arial" panose="020B0604020202020204" pitchFamily="34" charset="0"/>
              </a:rPr>
              <a:t>, and </a:t>
            </a:r>
            <a:r>
              <a:rPr kumimoji="0" lang="el-GR" altLang="el-GR" sz="2000" b="0" i="0" u="none" strike="noStrike" cap="none" normalizeH="0" baseline="0" dirty="0" err="1">
                <a:ln>
                  <a:noFill/>
                </a:ln>
                <a:solidFill>
                  <a:schemeClr val="bg1"/>
                </a:solidFill>
                <a:effectLst/>
                <a:latin typeface="Arial" panose="020B0604020202020204" pitchFamily="34" charset="0"/>
              </a:rPr>
              <a:t>management</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various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aspects</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urban</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environments</a:t>
            </a:r>
            <a:r>
              <a:rPr kumimoji="0" lang="el-GR" altLang="el-GR" sz="2000" b="0" i="0" u="none" strike="noStrike" cap="none" normalizeH="0" baseline="0" dirty="0">
                <a:ln>
                  <a:noFill/>
                </a:ln>
                <a:solidFill>
                  <a:schemeClr val="bg1"/>
                </a:solidFill>
                <a:effectLst/>
                <a:latin typeface="Arial" panose="020B0604020202020204" pitchFamily="34" charset="0"/>
              </a:rPr>
              <a:t>.</a:t>
            </a:r>
            <a:endParaRPr kumimoji="0" lang="en-US" altLang="el-GR" sz="2000" b="0" i="0" u="none" strike="noStrike" cap="none" normalizeH="0" baseline="0" dirty="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l-GR" altLang="el-GR" sz="2000" b="0" i="0" u="none" strike="noStrike" cap="none" normalizeH="0" baseline="0" dirty="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l-GR" altLang="el-GR" sz="2000" b="0" i="0" u="none" strike="noStrike" cap="none" normalizeH="0" baseline="0" dirty="0">
                <a:ln>
                  <a:noFill/>
                </a:ln>
                <a:solidFill>
                  <a:schemeClr val="bg1"/>
                </a:solidFill>
                <a:effectLst/>
                <a:latin typeface="Arial" panose="020B0604020202020204" pitchFamily="34" charset="0"/>
              </a:rPr>
              <a:t>In </a:t>
            </a:r>
            <a:r>
              <a:rPr kumimoji="0" lang="el-GR" altLang="el-GR" sz="2000" b="0" i="0" u="none" strike="noStrike" cap="none" normalizeH="0" baseline="0" dirty="0" err="1">
                <a:ln>
                  <a:noFill/>
                </a:ln>
                <a:solidFill>
                  <a:schemeClr val="bg1"/>
                </a:solidFill>
                <a:effectLst/>
                <a:latin typeface="Arial" panose="020B0604020202020204" pitchFamily="34" charset="0"/>
              </a:rPr>
              <a:t>this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presentation</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we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delve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into</a:t>
            </a:r>
            <a:r>
              <a:rPr kumimoji="0" lang="el-GR" altLang="el-GR" sz="2000" b="0" i="0" u="none" strike="noStrike" cap="none" normalizeH="0" baseline="0" dirty="0">
                <a:ln>
                  <a:noFill/>
                </a:ln>
                <a:solidFill>
                  <a:schemeClr val="bg1"/>
                </a:solidFill>
                <a:effectLst/>
                <a:latin typeface="Arial" panose="020B0604020202020204" pitchFamily="34" charset="0"/>
              </a:rPr>
              <a:t> the </a:t>
            </a:r>
            <a:r>
              <a:rPr kumimoji="0" lang="el-GR" altLang="el-GR" sz="2000" b="0" i="0" u="none" strike="noStrike" cap="none" normalizeH="0" baseline="0" dirty="0" err="1">
                <a:ln>
                  <a:noFill/>
                </a:ln>
                <a:solidFill>
                  <a:schemeClr val="bg1"/>
                </a:solidFill>
                <a:effectLst/>
                <a:latin typeface="Arial" panose="020B0604020202020204" pitchFamily="34" charset="0"/>
              </a:rPr>
              <a:t>integration</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IoT</a:t>
            </a:r>
            <a:r>
              <a:rPr kumimoji="0" lang="el-GR" altLang="el-GR" sz="2000" b="0" i="0" u="none" strike="noStrike" cap="none" normalizeH="0" baseline="0" dirty="0">
                <a:ln>
                  <a:noFill/>
                </a:ln>
                <a:solidFill>
                  <a:schemeClr val="bg1"/>
                </a:solidFill>
                <a:effectLst/>
                <a:latin typeface="Arial" panose="020B0604020202020204" pitchFamily="34" charset="0"/>
              </a:rPr>
              <a:t> and ML for </a:t>
            </a:r>
            <a:r>
              <a:rPr kumimoji="0" lang="el-GR" altLang="el-GR" sz="2000" b="0" i="0" u="none" strike="noStrike" cap="none" normalizeH="0" baseline="0" dirty="0" err="1">
                <a:ln>
                  <a:noFill/>
                </a:ln>
                <a:solidFill>
                  <a:schemeClr val="bg1"/>
                </a:solidFill>
                <a:effectLst/>
                <a:latin typeface="Arial" panose="020B0604020202020204" pitchFamily="34" charset="0"/>
              </a:rPr>
              <a:t>smart</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city</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management</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addressing</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key</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research</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questions</a:t>
            </a:r>
            <a:r>
              <a:rPr kumimoji="0" lang="el-GR" altLang="el-GR" sz="2000" b="0" i="0" u="none" strike="noStrike" cap="none" normalizeH="0" baseline="0" dirty="0">
                <a:ln>
                  <a:noFill/>
                </a:ln>
                <a:solidFill>
                  <a:schemeClr val="bg1"/>
                </a:solidFill>
                <a:effectLst/>
                <a:latin typeface="Arial" panose="020B0604020202020204" pitchFamily="34" charset="0"/>
              </a:rPr>
              <a:t> and </a:t>
            </a:r>
            <a:r>
              <a:rPr kumimoji="0" lang="el-GR" altLang="el-GR" sz="2000" b="0" i="0" u="none" strike="noStrike" cap="none" normalizeH="0" baseline="0" dirty="0" err="1">
                <a:ln>
                  <a:noFill/>
                </a:ln>
                <a:solidFill>
                  <a:schemeClr val="bg1"/>
                </a:solidFill>
                <a:effectLst/>
                <a:latin typeface="Arial" panose="020B0604020202020204" pitchFamily="34" charset="0"/>
              </a:rPr>
              <a:t>challenges</a:t>
            </a:r>
            <a:r>
              <a:rPr kumimoji="0" lang="el-GR" altLang="el-GR" sz="2000" b="0" i="0" u="none" strike="noStrike" cap="none" normalizeH="0" baseline="0" dirty="0">
                <a:ln>
                  <a:noFill/>
                </a:ln>
                <a:solidFill>
                  <a:schemeClr val="bg1"/>
                </a:solidFill>
                <a:effectLst/>
                <a:latin typeface="Arial" panose="020B0604020202020204" pitchFamily="34" charset="0"/>
              </a:rPr>
              <a:t> in </a:t>
            </a:r>
            <a:r>
              <a:rPr kumimoji="0" lang="el-GR" altLang="el-GR" sz="2000" b="0" i="0" u="none" strike="noStrike" cap="none" normalizeH="0" baseline="0" dirty="0" err="1">
                <a:ln>
                  <a:noFill/>
                </a:ln>
                <a:solidFill>
                  <a:schemeClr val="bg1"/>
                </a:solidFill>
                <a:effectLst/>
                <a:latin typeface="Arial" panose="020B0604020202020204" pitchFamily="34" charset="0"/>
              </a:rPr>
              <a:t>this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dynamic</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field</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By</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exploring</a:t>
            </a:r>
            <a:r>
              <a:rPr kumimoji="0" lang="el-GR" altLang="el-GR" sz="2000" b="0" i="0" u="none" strike="noStrike" cap="none" normalizeH="0" baseline="0" dirty="0">
                <a:ln>
                  <a:noFill/>
                </a:ln>
                <a:solidFill>
                  <a:schemeClr val="bg1"/>
                </a:solidFill>
                <a:effectLst/>
                <a:latin typeface="Arial" panose="020B0604020202020204" pitchFamily="34" charset="0"/>
              </a:rPr>
              <a:t> the </a:t>
            </a:r>
            <a:r>
              <a:rPr kumimoji="0" lang="el-GR" altLang="el-GR" sz="2000" b="0" i="0" u="none" strike="noStrike" cap="none" normalizeH="0" baseline="0" dirty="0" err="1">
                <a:ln>
                  <a:noFill/>
                </a:ln>
                <a:solidFill>
                  <a:schemeClr val="bg1"/>
                </a:solidFill>
                <a:effectLst/>
                <a:latin typeface="Arial" panose="020B0604020202020204" pitchFamily="34" charset="0"/>
              </a:rPr>
              <a:t>intersection</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these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technologies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we</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aim</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to</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uncover</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insights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that</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can</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inform</a:t>
            </a:r>
            <a:r>
              <a:rPr kumimoji="0" lang="el-GR" altLang="el-GR" sz="2000" b="0" i="0" u="none" strike="noStrike" cap="none" normalizeH="0" baseline="0" dirty="0">
                <a:ln>
                  <a:noFill/>
                </a:ln>
                <a:solidFill>
                  <a:schemeClr val="bg1"/>
                </a:solidFill>
                <a:effectLst/>
                <a:latin typeface="Arial" panose="020B0604020202020204" pitchFamily="34" charset="0"/>
              </a:rPr>
              <a:t> the </a:t>
            </a:r>
            <a:r>
              <a:rPr kumimoji="0" lang="el-GR" altLang="el-GR" sz="2000" b="0" i="0" u="none" strike="noStrike" cap="none" normalizeH="0" baseline="0" dirty="0" err="1">
                <a:ln>
                  <a:noFill/>
                </a:ln>
                <a:solidFill>
                  <a:schemeClr val="bg1"/>
                </a:solidFill>
                <a:effectLst/>
                <a:latin typeface="Arial" panose="020B0604020202020204" pitchFamily="34" charset="0"/>
              </a:rPr>
              <a:t>design</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implementation</a:t>
            </a:r>
            <a:r>
              <a:rPr kumimoji="0" lang="el-GR" altLang="el-GR" sz="2000" b="0" i="0" u="none" strike="noStrike" cap="none" normalizeH="0" baseline="0" dirty="0">
                <a:ln>
                  <a:noFill/>
                </a:ln>
                <a:solidFill>
                  <a:schemeClr val="bg1"/>
                </a:solidFill>
                <a:effectLst/>
                <a:latin typeface="Arial" panose="020B0604020202020204" pitchFamily="34" charset="0"/>
              </a:rPr>
              <a:t>, and </a:t>
            </a:r>
            <a:r>
              <a:rPr kumimoji="0" lang="el-GR" altLang="el-GR" sz="2000" b="0" i="0" u="none" strike="noStrike" cap="none" normalizeH="0" baseline="0" dirty="0" err="1">
                <a:ln>
                  <a:noFill/>
                </a:ln>
                <a:solidFill>
                  <a:schemeClr val="bg1"/>
                </a:solidFill>
                <a:effectLst/>
                <a:latin typeface="Arial" panose="020B0604020202020204" pitchFamily="34" charset="0"/>
              </a:rPr>
              <a:t>optimization</a:t>
            </a:r>
            <a:r>
              <a:rPr kumimoji="0" lang="el-GR" altLang="el-GR" sz="2000" b="0" i="0" u="none" strike="noStrike" cap="none" normalizeH="0" baseline="0" dirty="0">
                <a:ln>
                  <a:noFill/>
                </a:ln>
                <a:solidFill>
                  <a:schemeClr val="bg1"/>
                </a:solidFill>
                <a:effectLst/>
                <a:latin typeface="Arial" panose="020B0604020202020204" pitchFamily="34" charset="0"/>
              </a:rPr>
              <a:t> of </a:t>
            </a:r>
            <a:r>
              <a:rPr kumimoji="0" lang="el-GR" altLang="el-GR" sz="2000" b="0" i="0" u="none" strike="noStrike" cap="none" normalizeH="0" baseline="0" dirty="0" err="1">
                <a:ln>
                  <a:noFill/>
                </a:ln>
                <a:solidFill>
                  <a:schemeClr val="bg1"/>
                </a:solidFill>
                <a:effectLst/>
                <a:latin typeface="Arial" panose="020B0604020202020204" pitchFamily="34" charset="0"/>
              </a:rPr>
              <a:t>smart</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city</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initiatives</a:t>
            </a:r>
            <a:r>
              <a:rPr kumimoji="0" lang="el-GR" altLang="el-GR" sz="2000" b="0" i="0" u="none" strike="noStrike" cap="none" normalizeH="0" baseline="0" dirty="0">
                <a:ln>
                  <a:noFill/>
                </a:ln>
                <a:solidFill>
                  <a:schemeClr val="bg1"/>
                </a:solidFill>
                <a:effectLst/>
                <a:latin typeface="Arial" panose="020B0604020202020204" pitchFamily="34" charset="0"/>
              </a:rPr>
              <a:t> </a:t>
            </a:r>
            <a:r>
              <a:rPr kumimoji="0" lang="el-GR" altLang="el-GR" sz="2000" b="0" i="0" u="none" strike="noStrike" cap="none" normalizeH="0" baseline="0" dirty="0" err="1">
                <a:ln>
                  <a:noFill/>
                </a:ln>
                <a:solidFill>
                  <a:schemeClr val="bg1"/>
                </a:solidFill>
                <a:effectLst/>
                <a:latin typeface="Arial" panose="020B0604020202020204" pitchFamily="34" charset="0"/>
              </a:rPr>
              <a:t>worldwide</a:t>
            </a:r>
            <a:r>
              <a:rPr kumimoji="0" lang="el-GR" altLang="el-GR" sz="2000" b="0" i="0" u="none" strike="noStrike" cap="none" normalizeH="0" baseline="0" dirty="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3590010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Arial" panose="020B0604020202020204" pitchFamily="34" charset="0"/>
                <a:cs typeface="Arial" panose="020B0604020202020204" pitchFamily="34" charset="0"/>
              </a:rPr>
              <a:t>Abstract</a:t>
            </a:r>
            <a:endParaRPr lang="el-GR" dirty="0">
              <a:latin typeface="Arial" panose="020B0604020202020204" pitchFamily="34" charset="0"/>
              <a:cs typeface="Arial" panose="020B0604020202020204" pitchFamily="34" charset="0"/>
            </a:endParaRPr>
          </a:p>
        </p:txBody>
      </p:sp>
      <p:sp>
        <p:nvSpPr>
          <p:cNvPr id="13" name="Rectangle 5">
            <a:extLst>
              <a:ext uri="{FF2B5EF4-FFF2-40B4-BE49-F238E27FC236}">
                <a16:creationId xmlns:a16="http://schemas.microsoft.com/office/drawing/2014/main" id="{CD690D4A-6CDE-01EB-9824-9A357BD63095}"/>
              </a:ext>
            </a:extLst>
          </p:cNvPr>
          <p:cNvSpPr>
            <a:spLocks noChangeArrowheads="1"/>
          </p:cNvSpPr>
          <p:nvPr/>
        </p:nvSpPr>
        <p:spPr bwMode="auto">
          <a:xfrm>
            <a:off x="1071513" y="1548797"/>
            <a:ext cx="10048973" cy="5078313"/>
          </a:xfrm>
          <a:prstGeom prst="rect">
            <a:avLst/>
          </a:prstGeom>
          <a:solidFill>
            <a:schemeClr val="tx1"/>
          </a:solidFill>
          <a:ln>
            <a:noFill/>
          </a:ln>
          <a:effectLst>
            <a:innerShdw blurRad="63500" dist="50800" dir="10800000">
              <a:prstClr val="black">
                <a:alpha val="50000"/>
              </a:prstClr>
            </a:innerShdw>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US" b="0" i="0" dirty="0">
                <a:solidFill>
                  <a:srgbClr val="ECECEC"/>
                </a:solidFill>
                <a:effectLst/>
                <a:cs typeface="Arial" panose="020B0604020202020204" pitchFamily="34" charset="0"/>
              </a:rPr>
              <a:t>To guide our exploration of IoT and ML integration in smart city management, we address six fundamental research questions:</a:t>
            </a:r>
          </a:p>
          <a:p>
            <a:pPr algn="just"/>
            <a:endParaRPr lang="en-US" b="0" i="0" dirty="0">
              <a:solidFill>
                <a:srgbClr val="ECECEC"/>
              </a:solidFill>
              <a:effectLst/>
              <a:cs typeface="Arial" panose="020B0604020202020204" pitchFamily="34" charset="0"/>
            </a:endParaRPr>
          </a:p>
          <a:p>
            <a:pPr algn="just">
              <a:buFont typeface="+mj-lt"/>
              <a:buAutoNum type="arabicPeriod"/>
            </a:pPr>
            <a:r>
              <a:rPr lang="en-US" b="0" i="0" dirty="0">
                <a:solidFill>
                  <a:srgbClr val="ECECEC"/>
                </a:solidFill>
                <a:effectLst/>
                <a:cs typeface="Arial" panose="020B0604020202020204" pitchFamily="34" charset="0"/>
              </a:rPr>
              <a:t>How can machine learning algorithms be optimized and integrated into IoT systems for real-time monitoring and management of smart cities?</a:t>
            </a:r>
          </a:p>
          <a:p>
            <a:pPr algn="just">
              <a:buFont typeface="+mj-lt"/>
              <a:buAutoNum type="arabicPeriod"/>
            </a:pPr>
            <a:r>
              <a:rPr lang="en-US" b="0" i="0" dirty="0">
                <a:solidFill>
                  <a:srgbClr val="ECECEC"/>
                </a:solidFill>
                <a:effectLst/>
                <a:cs typeface="Arial" panose="020B0604020202020204" pitchFamily="34" charset="0"/>
              </a:rPr>
              <a:t>What are the most effective sensor configurations and data collection strategies for IoT-based monitoring of various aspects of smart places (e.g., traffic, air quality, energy consumption)?</a:t>
            </a:r>
          </a:p>
          <a:p>
            <a:pPr algn="just">
              <a:buFont typeface="+mj-lt"/>
              <a:buAutoNum type="arabicPeriod"/>
            </a:pPr>
            <a:r>
              <a:rPr lang="en-US" b="0" i="0" dirty="0">
                <a:solidFill>
                  <a:srgbClr val="ECECEC"/>
                </a:solidFill>
                <a:effectLst/>
                <a:cs typeface="Arial" panose="020B0604020202020204" pitchFamily="34" charset="0"/>
              </a:rPr>
              <a:t>How can machine learning algorithms leverage IoT data to predict and prevent failures in critical infrastructure systems within smart places?</a:t>
            </a:r>
          </a:p>
          <a:p>
            <a:pPr algn="just">
              <a:buFont typeface="+mj-lt"/>
              <a:buAutoNum type="arabicPeriod"/>
            </a:pPr>
            <a:r>
              <a:rPr lang="en-US" b="0" i="0" dirty="0">
                <a:solidFill>
                  <a:srgbClr val="ECECEC"/>
                </a:solidFill>
                <a:effectLst/>
                <a:cs typeface="Arial" panose="020B0604020202020204" pitchFamily="34" charset="0"/>
              </a:rPr>
              <a:t>What are the privacy and security challenges associated with deploying IoT devices in smart places, and how can machine learning techniques mitigate these risks?</a:t>
            </a:r>
          </a:p>
          <a:p>
            <a:pPr algn="just">
              <a:buFont typeface="+mj-lt"/>
              <a:buAutoNum type="arabicPeriod"/>
            </a:pPr>
            <a:r>
              <a:rPr lang="en-US" b="0" i="0" dirty="0">
                <a:solidFill>
                  <a:srgbClr val="ECECEC"/>
                </a:solidFill>
                <a:effectLst/>
                <a:cs typeface="Arial" panose="020B0604020202020204" pitchFamily="34" charset="0"/>
              </a:rPr>
              <a:t>How can reinforcement learning techniques be employed to optimize resource allocation and decision-making in smart places based on IoT-generated data?</a:t>
            </a:r>
          </a:p>
          <a:p>
            <a:pPr algn="just">
              <a:buFont typeface="+mj-lt"/>
              <a:buAutoNum type="arabicPeriod"/>
            </a:pPr>
            <a:r>
              <a:rPr lang="en-US" b="0" i="0" dirty="0">
                <a:solidFill>
                  <a:srgbClr val="ECECEC"/>
                </a:solidFill>
                <a:effectLst/>
                <a:cs typeface="Arial" panose="020B0604020202020204" pitchFamily="34" charset="0"/>
              </a:rPr>
              <a:t>What role can edge computing play in enhancing the efficiency and effectiveness of IoT and machine learning systems for monitoring and managing smart places?</a:t>
            </a:r>
          </a:p>
          <a:p>
            <a:pPr algn="just"/>
            <a:endParaRPr lang="en-US" b="0" i="0" dirty="0">
              <a:solidFill>
                <a:srgbClr val="ECECEC"/>
              </a:solidFill>
              <a:effectLst/>
              <a:cs typeface="Arial" panose="020B0604020202020204" pitchFamily="34" charset="0"/>
            </a:endParaRPr>
          </a:p>
          <a:p>
            <a:pPr algn="just"/>
            <a:r>
              <a:rPr lang="en-US" b="0" i="0" dirty="0">
                <a:solidFill>
                  <a:srgbClr val="ECECEC"/>
                </a:solidFill>
                <a:effectLst/>
                <a:cs typeface="Arial" panose="020B0604020202020204" pitchFamily="34" charset="0"/>
              </a:rPr>
              <a:t>By addressing these questions, we aim to gain comprehensive insights into the opportunities, challenges, and future directions of IoT and ML integration in smart city management.</a:t>
            </a:r>
          </a:p>
        </p:txBody>
      </p:sp>
    </p:spTree>
    <p:extLst>
      <p:ext uri="{BB962C8B-B14F-4D97-AF65-F5344CB8AC3E}">
        <p14:creationId xmlns:p14="http://schemas.microsoft.com/office/powerpoint/2010/main" val="2030823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l-G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Arial" panose="020B0604020202020204" pitchFamily="34" charset="0"/>
                <a:cs typeface="Arial" panose="020B0604020202020204" pitchFamily="34" charset="0"/>
              </a:rPr>
              <a:t>Literature</a:t>
            </a:r>
            <a:r>
              <a:rPr lang="en-US" b="0" i="0" dirty="0">
                <a:solidFill>
                  <a:srgbClr val="ECECEC"/>
                </a:solidFill>
                <a:effectLst/>
                <a:latin typeface="Söhne"/>
              </a:rPr>
              <a:t> Review</a:t>
            </a:r>
            <a:endParaRPr lang="el-GR" dirty="0"/>
          </a:p>
        </p:txBody>
      </p:sp>
      <p:sp>
        <p:nvSpPr>
          <p:cNvPr id="13" name="Rectangle 5">
            <a:extLst>
              <a:ext uri="{FF2B5EF4-FFF2-40B4-BE49-F238E27FC236}">
                <a16:creationId xmlns:a16="http://schemas.microsoft.com/office/drawing/2014/main" id="{CD690D4A-6CDE-01EB-9824-9A357BD63095}"/>
              </a:ext>
            </a:extLst>
          </p:cNvPr>
          <p:cNvSpPr>
            <a:spLocks noChangeArrowheads="1"/>
          </p:cNvSpPr>
          <p:nvPr/>
        </p:nvSpPr>
        <p:spPr bwMode="auto">
          <a:xfrm>
            <a:off x="1071513" y="1687298"/>
            <a:ext cx="10048973" cy="4801314"/>
          </a:xfrm>
          <a:prstGeom prst="rect">
            <a:avLst/>
          </a:prstGeom>
          <a:solidFill>
            <a:schemeClr val="tx1"/>
          </a:solidFill>
          <a:ln>
            <a:noFill/>
          </a:ln>
          <a:effectLst>
            <a:innerShdw blurRad="63500" dist="50800" dir="10800000">
              <a:prstClr val="black">
                <a:alpha val="50000"/>
              </a:prstClr>
            </a:innerShdw>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US" b="0" i="0" dirty="0">
                <a:solidFill>
                  <a:srgbClr val="ECECEC"/>
                </a:solidFill>
                <a:effectLst/>
                <a:cs typeface="Arial" panose="020B0604020202020204" pitchFamily="34" charset="0"/>
              </a:rPr>
              <a:t>Our investigation draws upon a diverse range of literature sources to inform our understanding of IoT and ML integration in smart city management. Some key papers we have reviewed include:</a:t>
            </a:r>
          </a:p>
          <a:p>
            <a:pPr algn="just"/>
            <a:endParaRPr lang="en-US" b="0" i="0" dirty="0">
              <a:solidFill>
                <a:srgbClr val="ECECEC"/>
              </a:solidFill>
              <a:effectLst/>
              <a:cs typeface="Arial" panose="020B0604020202020204" pitchFamily="34" charset="0"/>
            </a:endParaRPr>
          </a:p>
          <a:p>
            <a:pPr algn="just">
              <a:buFont typeface="Arial" panose="020B0604020202020204" pitchFamily="34" charset="0"/>
              <a:buChar char="•"/>
            </a:pPr>
            <a:r>
              <a:rPr lang="en-US" b="0" i="0" dirty="0">
                <a:solidFill>
                  <a:srgbClr val="ECECEC"/>
                </a:solidFill>
                <a:effectLst/>
                <a:cs typeface="Arial" panose="020B0604020202020204" pitchFamily="34" charset="0"/>
              </a:rPr>
              <a:t>"Machine Learning and Deep Learning Algorithms for Smart Cities: A Start-of-the-Art Review" by Oladipo et al.</a:t>
            </a:r>
          </a:p>
          <a:p>
            <a:pPr algn="just">
              <a:buFont typeface="Arial" panose="020B0604020202020204" pitchFamily="34" charset="0"/>
              <a:buChar char="•"/>
            </a:pPr>
            <a:r>
              <a:rPr lang="en-US" b="0" i="0" dirty="0">
                <a:solidFill>
                  <a:srgbClr val="ECECEC"/>
                </a:solidFill>
                <a:effectLst/>
                <a:cs typeface="Arial" panose="020B0604020202020204" pitchFamily="34" charset="0"/>
              </a:rPr>
              <a:t>"Smart Prediction and Monitoring of Waste Disposal System Using IoT and Cloud for IoT-Based Smart Cities" by John et al.</a:t>
            </a:r>
          </a:p>
          <a:p>
            <a:pPr algn="just">
              <a:buFont typeface="Arial" panose="020B0604020202020204" pitchFamily="34" charset="0"/>
              <a:buChar char="•"/>
            </a:pPr>
            <a:r>
              <a:rPr lang="en-US" b="0" i="0" dirty="0">
                <a:solidFill>
                  <a:srgbClr val="ECECEC"/>
                </a:solidFill>
                <a:effectLst/>
                <a:cs typeface="Arial" panose="020B0604020202020204" pitchFamily="34" charset="0"/>
              </a:rPr>
              <a:t>"Cloud Failure Prediction Based on Traditional Machine Learning and Deep Learning" by </a:t>
            </a:r>
            <a:r>
              <a:rPr lang="en-US" b="0" i="0" dirty="0" err="1">
                <a:solidFill>
                  <a:srgbClr val="ECECEC"/>
                </a:solidFill>
                <a:effectLst/>
                <a:cs typeface="Arial" panose="020B0604020202020204" pitchFamily="34" charset="0"/>
              </a:rPr>
              <a:t>Asmawi</a:t>
            </a:r>
            <a:r>
              <a:rPr lang="en-US" b="0" i="0" dirty="0">
                <a:solidFill>
                  <a:srgbClr val="ECECEC"/>
                </a:solidFill>
                <a:effectLst/>
                <a:cs typeface="Arial" panose="020B0604020202020204" pitchFamily="34" charset="0"/>
              </a:rPr>
              <a:t> et al.</a:t>
            </a:r>
          </a:p>
          <a:p>
            <a:pPr algn="just">
              <a:buFont typeface="Arial" panose="020B0604020202020204" pitchFamily="34" charset="0"/>
              <a:buChar char="•"/>
            </a:pPr>
            <a:r>
              <a:rPr lang="en-US" b="0" i="0" dirty="0">
                <a:solidFill>
                  <a:srgbClr val="ECECEC"/>
                </a:solidFill>
                <a:effectLst/>
                <a:cs typeface="Arial" panose="020B0604020202020204" pitchFamily="34" charset="0"/>
              </a:rPr>
              <a:t>"IoT Privacy and Security: Challenges and Solutions" by </a:t>
            </a:r>
            <a:r>
              <a:rPr lang="en-US" b="0" i="0" dirty="0" err="1">
                <a:solidFill>
                  <a:srgbClr val="ECECEC"/>
                </a:solidFill>
                <a:effectLst/>
                <a:cs typeface="Arial" panose="020B0604020202020204" pitchFamily="34" charset="0"/>
              </a:rPr>
              <a:t>Tawalbeh</a:t>
            </a:r>
            <a:r>
              <a:rPr lang="en-US" b="0" i="0" dirty="0">
                <a:solidFill>
                  <a:srgbClr val="ECECEC"/>
                </a:solidFill>
                <a:effectLst/>
                <a:cs typeface="Arial" panose="020B0604020202020204" pitchFamily="34" charset="0"/>
              </a:rPr>
              <a:t> et al.</a:t>
            </a:r>
          </a:p>
          <a:p>
            <a:pPr algn="just">
              <a:buFont typeface="Arial" panose="020B0604020202020204" pitchFamily="34" charset="0"/>
              <a:buChar char="•"/>
            </a:pPr>
            <a:r>
              <a:rPr lang="en-US" b="0" i="0" dirty="0">
                <a:solidFill>
                  <a:srgbClr val="ECECEC"/>
                </a:solidFill>
                <a:effectLst/>
                <a:cs typeface="Arial" panose="020B0604020202020204" pitchFamily="34" charset="0"/>
              </a:rPr>
              <a:t>"Deep Reinforcement Learning for Resource Allocation in Business Processes" by </a:t>
            </a:r>
            <a:r>
              <a:rPr lang="en-US" b="0" i="0" dirty="0" err="1">
                <a:solidFill>
                  <a:srgbClr val="ECECEC"/>
                </a:solidFill>
                <a:effectLst/>
                <a:cs typeface="Arial" panose="020B0604020202020204" pitchFamily="34" charset="0"/>
              </a:rPr>
              <a:t>Żbikowski</a:t>
            </a:r>
            <a:r>
              <a:rPr lang="en-US" b="0" i="0" dirty="0">
                <a:solidFill>
                  <a:srgbClr val="ECECEC"/>
                </a:solidFill>
                <a:effectLst/>
                <a:cs typeface="Arial" panose="020B0604020202020204" pitchFamily="34" charset="0"/>
              </a:rPr>
              <a:t> et al.</a:t>
            </a:r>
          </a:p>
          <a:p>
            <a:pPr algn="just">
              <a:buFont typeface="Arial" panose="020B0604020202020204" pitchFamily="34" charset="0"/>
              <a:buChar char="•"/>
            </a:pPr>
            <a:r>
              <a:rPr lang="en-US" b="0" i="0" dirty="0">
                <a:solidFill>
                  <a:srgbClr val="ECECEC"/>
                </a:solidFill>
                <a:effectLst/>
                <a:cs typeface="Arial" panose="020B0604020202020204" pitchFamily="34" charset="0"/>
              </a:rPr>
              <a:t>"Edge Computing in IoT: Enhancing Efficiency and Performance" by Kulkarni.</a:t>
            </a:r>
          </a:p>
          <a:p>
            <a:pPr algn="just"/>
            <a:endParaRPr lang="en-US" b="0" i="0" dirty="0">
              <a:solidFill>
                <a:srgbClr val="ECECEC"/>
              </a:solidFill>
              <a:effectLst/>
              <a:cs typeface="Arial" panose="020B0604020202020204" pitchFamily="34" charset="0"/>
            </a:endParaRPr>
          </a:p>
          <a:p>
            <a:pPr algn="just"/>
            <a:r>
              <a:rPr lang="en-US" b="0" i="0" dirty="0">
                <a:solidFill>
                  <a:srgbClr val="ECECEC"/>
                </a:solidFill>
                <a:effectLst/>
                <a:cs typeface="Arial" panose="020B0604020202020204" pitchFamily="34" charset="0"/>
              </a:rPr>
              <a:t>These papers provide valuable insights into various aspects of IoT and ML integration in smart city management, including optimization techniques, sensor configurations, predictive maintenance strategies, privacy and security considerations, and the role of edge computing.</a:t>
            </a:r>
          </a:p>
        </p:txBody>
      </p:sp>
    </p:spTree>
    <p:extLst>
      <p:ext uri="{BB962C8B-B14F-4D97-AF65-F5344CB8AC3E}">
        <p14:creationId xmlns:p14="http://schemas.microsoft.com/office/powerpoint/2010/main" val="3228483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Arial" panose="020B0604020202020204" pitchFamily="34" charset="0"/>
                <a:cs typeface="Arial" panose="020B0604020202020204" pitchFamily="34" charset="0"/>
              </a:rPr>
              <a:t>Method</a:t>
            </a:r>
            <a:endParaRPr lang="el-GR" dirty="0">
              <a:latin typeface="Arial" panose="020B0604020202020204" pitchFamily="34" charset="0"/>
              <a:cs typeface="Arial" panose="020B0604020202020204" pitchFamily="34" charset="0"/>
            </a:endParaRPr>
          </a:p>
        </p:txBody>
      </p:sp>
      <p:sp>
        <p:nvSpPr>
          <p:cNvPr id="11" name="Rectangle 7">
            <a:extLst>
              <a:ext uri="{FF2B5EF4-FFF2-40B4-BE49-F238E27FC236}">
                <a16:creationId xmlns:a16="http://schemas.microsoft.com/office/drawing/2014/main" id="{9EAB822B-EA17-0485-ECE9-D9E351348108}"/>
              </a:ext>
            </a:extLst>
          </p:cNvPr>
          <p:cNvSpPr>
            <a:spLocks noChangeArrowheads="1"/>
          </p:cNvSpPr>
          <p:nvPr/>
        </p:nvSpPr>
        <p:spPr bwMode="auto">
          <a:xfrm>
            <a:off x="911258" y="1623856"/>
            <a:ext cx="10369484" cy="4955203"/>
          </a:xfrm>
          <a:prstGeom prst="rect">
            <a:avLst/>
          </a:prstGeom>
          <a:solidFill>
            <a:schemeClr val="tx1"/>
          </a:solidFill>
          <a:ln>
            <a:noFill/>
          </a:ln>
          <a:effectLst/>
        </p:spPr>
        <p:txBody>
          <a:bodyPr vert="horz" wrap="square" lIns="0" tIns="0" rIns="0" bIns="0" numCol="1" anchor="ctr" anchorCtr="0" compatLnSpc="1">
            <a:prstTxWarp prst="textNoShape">
              <a:avLst/>
            </a:prstTxWarp>
            <a:spAutoFit/>
          </a:bodyPr>
          <a:lstStyle/>
          <a:p>
            <a:pPr algn="l"/>
            <a:r>
              <a:rPr lang="en-US" sz="1400" b="0" i="0" dirty="0">
                <a:solidFill>
                  <a:srgbClr val="ECECEC"/>
                </a:solidFill>
                <a:effectLst/>
                <a:latin typeface="Arial" panose="020B0604020202020204" pitchFamily="34" charset="0"/>
                <a:cs typeface="Arial" panose="020B0604020202020204" pitchFamily="34" charset="0"/>
              </a:rPr>
              <a:t>Our methodology encompasses several key steps to address the research questions and objectives outlined in this study:</a:t>
            </a:r>
          </a:p>
          <a:p>
            <a:pPr algn="l"/>
            <a:endParaRPr lang="en-US" sz="1400" b="0" i="0" dirty="0">
              <a:solidFill>
                <a:srgbClr val="ECECEC"/>
              </a:solidFill>
              <a:effectLst/>
              <a:latin typeface="Arial" panose="020B0604020202020204" pitchFamily="34" charset="0"/>
              <a:cs typeface="Arial" panose="020B0604020202020204" pitchFamily="34" charset="0"/>
            </a:endParaRPr>
          </a:p>
          <a:p>
            <a:pPr algn="l">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Literature Review: We conducted an extensive review of academic papers, conference proceedings, and industry reports to gather insights into the integration of IoT and ML technologies for smart city management.</a:t>
            </a:r>
          </a:p>
          <a:p>
            <a:pPr algn="l">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algn="l">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Data Collection: We collected data from diverse sources, including IoT sensors, public databases, and case studies, to analyze the effectiveness of ML algorithms and sensor configurations in real-world smart city environments.</a:t>
            </a:r>
          </a:p>
          <a:p>
            <a:pPr algn="l">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algn="l">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Data Analysis: Advanced data analysis techniques, such as statistical analysis, machine learning algorithms, and deep learning models, were employed to analyze the collected data and derive meaningful insights.</a:t>
            </a:r>
          </a:p>
          <a:p>
            <a:pPr algn="l">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algn="l">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Case Studies: Collaborative case studies were conducted with smart city stakeholders and industry partners to validate our findings and assess the practical implications of our proposed methodologies.</a:t>
            </a:r>
          </a:p>
          <a:p>
            <a:pPr algn="l">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algn="l">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Validation and Evaluation: Rigorous testing and evaluation were conducted to validate our methodology against benchmark datasets and real-world scenarios, assessing the accuracy, reliability, and scalability of our proposed solutions.</a:t>
            </a:r>
          </a:p>
          <a:p>
            <a:pPr algn="l">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algn="l">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Documentation and Reporting: Finally, we documented our methodology, findings, and recommendations in a comprehensive research report, highlighting key insights, challenges, and future directions for integrating IoT and ML technologies in smart city management.</a:t>
            </a:r>
          </a:p>
          <a:p>
            <a:pPr algn="l"/>
            <a:endParaRPr lang="en-US" sz="1400" b="0" i="0" dirty="0">
              <a:solidFill>
                <a:srgbClr val="ECECEC"/>
              </a:solidFill>
              <a:effectLst/>
              <a:latin typeface="Arial" panose="020B0604020202020204" pitchFamily="34" charset="0"/>
              <a:cs typeface="Arial" panose="020B0604020202020204" pitchFamily="34" charset="0"/>
            </a:endParaRPr>
          </a:p>
          <a:p>
            <a:pPr algn="l"/>
            <a:r>
              <a:rPr lang="en-US" sz="1400" b="0" i="0" dirty="0">
                <a:solidFill>
                  <a:srgbClr val="ECECEC"/>
                </a:solidFill>
                <a:effectLst/>
                <a:latin typeface="Arial" panose="020B0604020202020204" pitchFamily="34" charset="0"/>
                <a:cs typeface="Arial" panose="020B0604020202020204" pitchFamily="34" charset="0"/>
              </a:rPr>
              <a:t>This systematic approach allowed us to address the research questions posed in this study and contribute to the advancement of knowledge in the field of smart city management.</a:t>
            </a:r>
          </a:p>
        </p:txBody>
      </p:sp>
      <p:sp>
        <p:nvSpPr>
          <p:cNvPr id="12" name="Rectangle 8">
            <a:extLst>
              <a:ext uri="{FF2B5EF4-FFF2-40B4-BE49-F238E27FC236}">
                <a16:creationId xmlns:a16="http://schemas.microsoft.com/office/drawing/2014/main" id="{7C836F1F-104D-7058-B962-AF87AEE4683E}"/>
              </a:ext>
            </a:extLst>
          </p:cNvPr>
          <p:cNvSpPr>
            <a:spLocks noChangeArrowheads="1"/>
          </p:cNvSpPr>
          <p:nvPr/>
        </p:nvSpPr>
        <p:spPr bwMode="auto">
          <a:xfrm>
            <a:off x="801277" y="3008501"/>
            <a:ext cx="91417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l-GR" altLang="el-GR" sz="1800" b="0" i="0" u="none" strike="noStrike" cap="none" normalizeH="0" baseline="0">
                <a:ln>
                  <a:noFill/>
                </a:ln>
                <a:solidFill>
                  <a:srgbClr val="FFFFFF"/>
                </a:solidFill>
                <a:effectLst/>
                <a:latin typeface="Söhne"/>
              </a:rPr>
            </a:br>
            <a:endParaRPr kumimoji="0" lang="el-GR" altLang="el-G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3088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Söhne"/>
              </a:rPr>
              <a:t>Results and Discussion</a:t>
            </a:r>
            <a:endParaRPr lang="el-GR" dirty="0"/>
          </a:p>
        </p:txBody>
      </p:sp>
      <p:sp>
        <p:nvSpPr>
          <p:cNvPr id="11" name="Rectangle 7">
            <a:extLst>
              <a:ext uri="{FF2B5EF4-FFF2-40B4-BE49-F238E27FC236}">
                <a16:creationId xmlns:a16="http://schemas.microsoft.com/office/drawing/2014/main" id="{9EAB822B-EA17-0485-ECE9-D9E351348108}"/>
              </a:ext>
            </a:extLst>
          </p:cNvPr>
          <p:cNvSpPr>
            <a:spLocks noChangeArrowheads="1"/>
          </p:cNvSpPr>
          <p:nvPr/>
        </p:nvSpPr>
        <p:spPr bwMode="auto">
          <a:xfrm>
            <a:off x="911258" y="1408410"/>
            <a:ext cx="10369484" cy="5386090"/>
          </a:xfrm>
          <a:prstGeom prst="rect">
            <a:avLst/>
          </a:prstGeom>
          <a:solidFill>
            <a:schemeClr val="tx1"/>
          </a:solidFill>
          <a:ln>
            <a:noFill/>
          </a:ln>
          <a:effectLst/>
        </p:spPr>
        <p:txBody>
          <a:bodyPr vert="horz" wrap="square" lIns="0" tIns="0" rIns="0" bIns="0" numCol="1" anchor="ctr" anchorCtr="0" compatLnSpc="1">
            <a:prstTxWarp prst="textNoShape">
              <a:avLst/>
            </a:prstTxWarp>
            <a:spAutoFit/>
          </a:bodyPr>
          <a:lstStyle/>
          <a:p>
            <a:pPr marL="85725" algn="just"/>
            <a:r>
              <a:rPr lang="en-US" sz="1400" b="0" i="0" dirty="0">
                <a:solidFill>
                  <a:srgbClr val="ECECEC"/>
                </a:solidFill>
                <a:effectLst/>
                <a:latin typeface="Arial" panose="020B0604020202020204" pitchFamily="34" charset="0"/>
                <a:cs typeface="Arial" panose="020B0604020202020204" pitchFamily="34" charset="0"/>
              </a:rPr>
              <a:t>Our analysis yielded several key findings and insights regarding the integration of IoT and ML technologies for smart city management:</a:t>
            </a:r>
          </a:p>
          <a:p>
            <a:pPr marL="85725" indent="85725" algn="just"/>
            <a:endParaRPr lang="en-US" sz="1400" b="0" i="0" dirty="0">
              <a:solidFill>
                <a:srgbClr val="ECECEC"/>
              </a:solidFill>
              <a:effectLst/>
              <a:latin typeface="Arial" panose="020B0604020202020204" pitchFamily="34" charset="0"/>
              <a:cs typeface="Arial" panose="020B0604020202020204" pitchFamily="34" charset="0"/>
            </a:endParaRPr>
          </a:p>
          <a:p>
            <a:pPr marL="85725" indent="85725" algn="just">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Optimization of ML Algorithms: We identified the performance of various ML algorithms in real-time monitoring and management of smart cities, highlighting the importance of efficient data preprocessing and scalable deployment strategies.</a:t>
            </a:r>
          </a:p>
          <a:p>
            <a:pPr marL="85725" indent="85725" algn="just">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marL="85725" algn="just">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Effective Sensor Configurations: Our study explored sensor configurations and data collection strategies for IoT-based monitoring of smart places, emphasizing predictive maintenance and timely data collection.</a:t>
            </a:r>
          </a:p>
          <a:p>
            <a:pPr marL="85725" indent="85725" algn="just">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marL="85725" indent="85725" algn="just">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Predictive Maintenance Strategies: ML algorithms were found to be effective in predicting and preventing failures in critical infrastructure systems within smart places, enabling proactive maintenance and reducing downtime.</a:t>
            </a:r>
          </a:p>
          <a:p>
            <a:pPr marL="85725" indent="85725" algn="just">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marL="85725" indent="85725" algn="just">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Privacy and Security Challenges: We addressed privacy and security concerns associated with deploying IoT devices in smart places, proposing ML techniques to mitigate these risks and foster trust among stakeholders.</a:t>
            </a:r>
          </a:p>
          <a:p>
            <a:pPr marL="85725" indent="85725" algn="just">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marL="85725" indent="85725" algn="just">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Reinforcement Learning Applications: Our investigation revealed the potential of reinforcement learning techniques in optimizing resource allocation and decision-making based on IoT-generated data, enhancing efficiency and effectiveness in smart city management.</a:t>
            </a:r>
          </a:p>
          <a:p>
            <a:pPr marL="85725" indent="85725" algn="just">
              <a:buFont typeface="+mj-lt"/>
              <a:buAutoNum type="arabicPeriod"/>
            </a:pPr>
            <a:endParaRPr lang="en-US" sz="1400" b="0" i="0" dirty="0">
              <a:solidFill>
                <a:srgbClr val="ECECEC"/>
              </a:solidFill>
              <a:effectLst/>
              <a:latin typeface="Arial" panose="020B0604020202020204" pitchFamily="34" charset="0"/>
              <a:cs typeface="Arial" panose="020B0604020202020204" pitchFamily="34" charset="0"/>
            </a:endParaRPr>
          </a:p>
          <a:p>
            <a:pPr marL="85725" indent="85725" algn="just">
              <a:buFont typeface="+mj-lt"/>
              <a:buAutoNum type="arabicPeriod"/>
            </a:pPr>
            <a:r>
              <a:rPr lang="en-US" sz="1400" b="0" i="0" dirty="0">
                <a:solidFill>
                  <a:srgbClr val="ECECEC"/>
                </a:solidFill>
                <a:effectLst/>
                <a:latin typeface="Arial" panose="020B0604020202020204" pitchFamily="34" charset="0"/>
                <a:cs typeface="Arial" panose="020B0604020202020204" pitchFamily="34" charset="0"/>
              </a:rPr>
              <a:t>Role of Edge Computing: Finally, we discussed the role of edge computing in enhancing the efficiency and effectiveness of IoT and ML systems for monitoring and managing smart places, emphasizing reduced latency, bandwidth savings, and enhanced privacy.</a:t>
            </a:r>
          </a:p>
          <a:p>
            <a:pPr marL="85725" indent="85725" algn="just"/>
            <a:endParaRPr lang="en-US" sz="1400" b="0" i="0" dirty="0">
              <a:solidFill>
                <a:srgbClr val="ECECEC"/>
              </a:solidFill>
              <a:effectLst/>
              <a:latin typeface="Arial" panose="020B0604020202020204" pitchFamily="34" charset="0"/>
              <a:cs typeface="Arial" panose="020B0604020202020204" pitchFamily="34" charset="0"/>
            </a:endParaRPr>
          </a:p>
          <a:p>
            <a:pPr marL="85725" algn="just"/>
            <a:r>
              <a:rPr lang="en-US" sz="1400" b="0" i="0" dirty="0">
                <a:solidFill>
                  <a:srgbClr val="ECECEC"/>
                </a:solidFill>
                <a:effectLst/>
                <a:latin typeface="Arial" panose="020B0604020202020204" pitchFamily="34" charset="0"/>
                <a:cs typeface="Arial" panose="020B0604020202020204" pitchFamily="34" charset="0"/>
              </a:rPr>
              <a:t>These findings provide valuable insights into the opportunities and challenges of integrating IoT and ML technologies for smarter and more sustainable urban environments.</a:t>
            </a:r>
            <a:endParaRPr kumimoji="0" lang="el-GR" altLang="el-GR" sz="14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
        <p:nvSpPr>
          <p:cNvPr id="12" name="Rectangle 8">
            <a:extLst>
              <a:ext uri="{FF2B5EF4-FFF2-40B4-BE49-F238E27FC236}">
                <a16:creationId xmlns:a16="http://schemas.microsoft.com/office/drawing/2014/main" id="{7C836F1F-104D-7058-B962-AF87AEE4683E}"/>
              </a:ext>
            </a:extLst>
          </p:cNvPr>
          <p:cNvSpPr>
            <a:spLocks noChangeArrowheads="1"/>
          </p:cNvSpPr>
          <p:nvPr/>
        </p:nvSpPr>
        <p:spPr bwMode="auto">
          <a:xfrm>
            <a:off x="801277" y="3008501"/>
            <a:ext cx="91417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l-GR" altLang="el-GR" sz="1800" b="0" i="0" u="none" strike="noStrike" cap="none" normalizeH="0" baseline="0">
                <a:ln>
                  <a:noFill/>
                </a:ln>
                <a:solidFill>
                  <a:srgbClr val="FFFFFF"/>
                </a:solidFill>
                <a:effectLst/>
                <a:latin typeface="Söhne"/>
              </a:rPr>
            </a:br>
            <a:endParaRPr kumimoji="0" lang="el-GR" altLang="el-G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4826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Söhne"/>
              </a:rPr>
              <a:t>Future Research Directions</a:t>
            </a:r>
            <a:endParaRPr lang="el-GR" dirty="0"/>
          </a:p>
        </p:txBody>
      </p:sp>
      <p:sp>
        <p:nvSpPr>
          <p:cNvPr id="11" name="Rectangle 7">
            <a:extLst>
              <a:ext uri="{FF2B5EF4-FFF2-40B4-BE49-F238E27FC236}">
                <a16:creationId xmlns:a16="http://schemas.microsoft.com/office/drawing/2014/main" id="{9EAB822B-EA17-0485-ECE9-D9E351348108}"/>
              </a:ext>
            </a:extLst>
          </p:cNvPr>
          <p:cNvSpPr>
            <a:spLocks noChangeArrowheads="1"/>
          </p:cNvSpPr>
          <p:nvPr/>
        </p:nvSpPr>
        <p:spPr bwMode="auto">
          <a:xfrm>
            <a:off x="911258" y="1746965"/>
            <a:ext cx="10369484" cy="4708981"/>
          </a:xfrm>
          <a:prstGeom prst="rect">
            <a:avLst/>
          </a:prstGeom>
          <a:solidFill>
            <a:schemeClr val="tx1"/>
          </a:solidFill>
          <a:ln>
            <a:noFill/>
          </a:ln>
          <a:effectLst/>
        </p:spPr>
        <p:txBody>
          <a:bodyPr vert="horz" wrap="square" lIns="0" tIns="0" rIns="0" bIns="0" numCol="1" anchor="ctr" anchorCtr="0" compatLnSpc="1">
            <a:prstTxWarp prst="textNoShape">
              <a:avLst/>
            </a:prstTxWarp>
            <a:spAutoFit/>
          </a:bodyPr>
          <a:lstStyle/>
          <a:p>
            <a:pPr marL="85725" algn="l"/>
            <a:r>
              <a:rPr lang="en-US" b="0" i="0" dirty="0">
                <a:solidFill>
                  <a:srgbClr val="ECECEC"/>
                </a:solidFill>
                <a:effectLst/>
                <a:latin typeface="Arial" panose="020B0604020202020204" pitchFamily="34" charset="0"/>
                <a:cs typeface="Arial" panose="020B0604020202020204" pitchFamily="34" charset="0"/>
              </a:rPr>
              <a:t>Looking ahead, several promising avenues for future research in the field of IoT and ML for smart city management include:</a:t>
            </a:r>
          </a:p>
          <a:p>
            <a:pPr marL="85725" algn="l"/>
            <a:endParaRPr lang="en-US" b="0" i="0" dirty="0">
              <a:solidFill>
                <a:srgbClr val="ECECEC"/>
              </a:solidFill>
              <a:effectLst/>
              <a:latin typeface="Arial" panose="020B0604020202020204" pitchFamily="34" charset="0"/>
              <a:cs typeface="Arial" panose="020B0604020202020204" pitchFamily="34" charset="0"/>
            </a:endParaRPr>
          </a:p>
          <a:p>
            <a:pPr marL="85725" algn="l">
              <a:buFont typeface="+mj-lt"/>
              <a:buAutoNum type="arabicPeriod"/>
            </a:pPr>
            <a:r>
              <a:rPr lang="en-US" b="0" i="0" dirty="0">
                <a:solidFill>
                  <a:srgbClr val="ECECEC"/>
                </a:solidFill>
                <a:effectLst/>
                <a:latin typeface="Arial" panose="020B0604020202020204" pitchFamily="34" charset="0"/>
                <a:cs typeface="Arial" panose="020B0604020202020204" pitchFamily="34" charset="0"/>
              </a:rPr>
              <a:t>Federated Learning Approaches: Exploring collaborative model training across distributed sensors to improve model robustness and generalization.</a:t>
            </a:r>
          </a:p>
          <a:p>
            <a:pPr marL="85725" algn="l">
              <a:buFont typeface="+mj-lt"/>
              <a:buAutoNum type="arabicPeriod"/>
            </a:pPr>
            <a:endParaRPr lang="en-US" b="0" i="0" dirty="0">
              <a:solidFill>
                <a:srgbClr val="ECECEC"/>
              </a:solidFill>
              <a:effectLst/>
              <a:latin typeface="Arial" panose="020B0604020202020204" pitchFamily="34" charset="0"/>
              <a:cs typeface="Arial" panose="020B0604020202020204" pitchFamily="34" charset="0"/>
            </a:endParaRPr>
          </a:p>
          <a:p>
            <a:pPr marL="85725" algn="l">
              <a:buFont typeface="+mj-lt"/>
              <a:buAutoNum type="arabicPeriod"/>
            </a:pPr>
            <a:r>
              <a:rPr lang="en-US" b="0" i="0" dirty="0">
                <a:solidFill>
                  <a:srgbClr val="ECECEC"/>
                </a:solidFill>
                <a:effectLst/>
                <a:latin typeface="Arial" panose="020B0604020202020204" pitchFamily="34" charset="0"/>
                <a:cs typeface="Arial" panose="020B0604020202020204" pitchFamily="34" charset="0"/>
              </a:rPr>
              <a:t>Explainable AI Models: Developing interpretable ML models to enhance transparency and accountability in decision-making processes.</a:t>
            </a:r>
          </a:p>
          <a:p>
            <a:pPr marL="85725" algn="l">
              <a:buFont typeface="+mj-lt"/>
              <a:buAutoNum type="arabicPeriod"/>
            </a:pPr>
            <a:endParaRPr lang="en-US" b="0" i="0" dirty="0">
              <a:solidFill>
                <a:srgbClr val="ECECEC"/>
              </a:solidFill>
              <a:effectLst/>
              <a:latin typeface="Arial" panose="020B0604020202020204" pitchFamily="34" charset="0"/>
              <a:cs typeface="Arial" panose="020B0604020202020204" pitchFamily="34" charset="0"/>
            </a:endParaRPr>
          </a:p>
          <a:p>
            <a:pPr marL="85725" algn="l">
              <a:buFont typeface="+mj-lt"/>
              <a:buAutoNum type="arabicPeriod"/>
            </a:pPr>
            <a:r>
              <a:rPr lang="en-US" b="0" i="0" dirty="0">
                <a:solidFill>
                  <a:srgbClr val="ECECEC"/>
                </a:solidFill>
                <a:effectLst/>
                <a:latin typeface="Arial" panose="020B0604020202020204" pitchFamily="34" charset="0"/>
                <a:cs typeface="Arial" panose="020B0604020202020204" pitchFamily="34" charset="0"/>
              </a:rPr>
              <a:t>Edge AI Ecosystems: Advancing tools and frameworks tailored for edge computing environments to optimize resource allocation and improve scalability.</a:t>
            </a:r>
          </a:p>
          <a:p>
            <a:pPr marL="85725" algn="l">
              <a:buFont typeface="+mj-lt"/>
              <a:buAutoNum type="arabicPeriod"/>
            </a:pPr>
            <a:endParaRPr lang="en-US" b="0" i="0" dirty="0">
              <a:solidFill>
                <a:srgbClr val="ECECEC"/>
              </a:solidFill>
              <a:effectLst/>
              <a:latin typeface="Arial" panose="020B0604020202020204" pitchFamily="34" charset="0"/>
              <a:cs typeface="Arial" panose="020B0604020202020204" pitchFamily="34" charset="0"/>
            </a:endParaRPr>
          </a:p>
          <a:p>
            <a:pPr marL="85725" algn="l">
              <a:buFont typeface="+mj-lt"/>
              <a:buAutoNum type="arabicPeriod"/>
            </a:pPr>
            <a:r>
              <a:rPr lang="en-US" b="0" i="0" dirty="0">
                <a:solidFill>
                  <a:srgbClr val="ECECEC"/>
                </a:solidFill>
                <a:effectLst/>
                <a:latin typeface="Arial" panose="020B0604020202020204" pitchFamily="34" charset="0"/>
                <a:cs typeface="Arial" panose="020B0604020202020204" pitchFamily="34" charset="0"/>
              </a:rPr>
              <a:t>Ethical Considerations: Addressing biases and fairness in ML models, as well as ensuring user rights and privacy protections in smart city deployments.</a:t>
            </a:r>
          </a:p>
          <a:p>
            <a:pPr marL="85725" algn="l"/>
            <a:endParaRPr lang="en-US" b="0" i="0" dirty="0">
              <a:solidFill>
                <a:srgbClr val="ECECEC"/>
              </a:solidFill>
              <a:effectLst/>
              <a:latin typeface="Arial" panose="020B0604020202020204" pitchFamily="34" charset="0"/>
              <a:cs typeface="Arial" panose="020B0604020202020204" pitchFamily="34" charset="0"/>
            </a:endParaRPr>
          </a:p>
          <a:p>
            <a:pPr marL="85725" algn="l"/>
            <a:r>
              <a:rPr lang="en-US" b="0" i="0" dirty="0">
                <a:solidFill>
                  <a:srgbClr val="ECECEC"/>
                </a:solidFill>
                <a:effectLst/>
                <a:latin typeface="Arial" panose="020B0604020202020204" pitchFamily="34" charset="0"/>
                <a:cs typeface="Arial" panose="020B0604020202020204" pitchFamily="34" charset="0"/>
              </a:rPr>
              <a:t>By focusing on these research directions, we can further advance the integration of IoT and ML technologies for smarter, more sustainable, and equitable urban environments.</a:t>
            </a:r>
          </a:p>
        </p:txBody>
      </p:sp>
      <p:sp>
        <p:nvSpPr>
          <p:cNvPr id="12" name="Rectangle 8">
            <a:extLst>
              <a:ext uri="{FF2B5EF4-FFF2-40B4-BE49-F238E27FC236}">
                <a16:creationId xmlns:a16="http://schemas.microsoft.com/office/drawing/2014/main" id="{7C836F1F-104D-7058-B962-AF87AEE4683E}"/>
              </a:ext>
            </a:extLst>
          </p:cNvPr>
          <p:cNvSpPr>
            <a:spLocks noChangeArrowheads="1"/>
          </p:cNvSpPr>
          <p:nvPr/>
        </p:nvSpPr>
        <p:spPr bwMode="auto">
          <a:xfrm>
            <a:off x="801277" y="3008501"/>
            <a:ext cx="91417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l-GR" altLang="el-GR" sz="1800" b="0" i="0" u="none" strike="noStrike" cap="none" normalizeH="0" baseline="0">
                <a:ln>
                  <a:noFill/>
                </a:ln>
                <a:solidFill>
                  <a:srgbClr val="FFFFFF"/>
                </a:solidFill>
                <a:effectLst/>
                <a:latin typeface="Söhne"/>
              </a:rPr>
            </a:br>
            <a:endParaRPr kumimoji="0" lang="el-GR" altLang="el-G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7442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Ορθογώνιο 3">
            <a:extLst>
              <a:ext uri="{FF2B5EF4-FFF2-40B4-BE49-F238E27FC236}">
                <a16:creationId xmlns:a16="http://schemas.microsoft.com/office/drawing/2014/main" id="{4A0D06D2-55EC-F65A-265D-2B57B06FBE92}"/>
              </a:ext>
            </a:extLst>
          </p:cNvPr>
          <p:cNvSpPr/>
          <p:nvPr/>
        </p:nvSpPr>
        <p:spPr>
          <a:xfrm>
            <a:off x="0" y="0"/>
            <a:ext cx="7352907" cy="132556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Ορθογώνιο τρίγωνο 4">
            <a:extLst>
              <a:ext uri="{FF2B5EF4-FFF2-40B4-BE49-F238E27FC236}">
                <a16:creationId xmlns:a16="http://schemas.microsoft.com/office/drawing/2014/main" id="{D160B3C7-3D73-6E9A-4308-4E5BC2187EDD}"/>
              </a:ext>
            </a:extLst>
          </p:cNvPr>
          <p:cNvSpPr/>
          <p:nvPr/>
        </p:nvSpPr>
        <p:spPr>
          <a:xfrm rot="10800000" flipH="1" flipV="1">
            <a:off x="7352907" y="-1"/>
            <a:ext cx="2177592" cy="1325563"/>
          </a:xfrm>
          <a:prstGeom prst="r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l-G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DD351E26-FBDA-84E9-365C-F91587E40A3A}"/>
              </a:ext>
            </a:extLst>
          </p:cNvPr>
          <p:cNvSpPr>
            <a:spLocks noGrp="1"/>
          </p:cNvSpPr>
          <p:nvPr>
            <p:ph type="title"/>
          </p:nvPr>
        </p:nvSpPr>
        <p:spPr>
          <a:xfrm>
            <a:off x="291446" y="0"/>
            <a:ext cx="5298649" cy="1325563"/>
          </a:xfrm>
        </p:spPr>
        <p:txBody>
          <a:bodyPr/>
          <a:lstStyle/>
          <a:p>
            <a:r>
              <a:rPr lang="en-US" b="0" i="0" dirty="0">
                <a:solidFill>
                  <a:srgbClr val="ECECEC"/>
                </a:solidFill>
                <a:effectLst/>
                <a:latin typeface="Söhne"/>
              </a:rPr>
              <a:t>Conclusion</a:t>
            </a:r>
            <a:endParaRPr lang="el-GR" dirty="0"/>
          </a:p>
        </p:txBody>
      </p:sp>
      <p:sp>
        <p:nvSpPr>
          <p:cNvPr id="11" name="Rectangle 7">
            <a:extLst>
              <a:ext uri="{FF2B5EF4-FFF2-40B4-BE49-F238E27FC236}">
                <a16:creationId xmlns:a16="http://schemas.microsoft.com/office/drawing/2014/main" id="{9EAB822B-EA17-0485-ECE9-D9E351348108}"/>
              </a:ext>
            </a:extLst>
          </p:cNvPr>
          <p:cNvSpPr>
            <a:spLocks noChangeArrowheads="1"/>
          </p:cNvSpPr>
          <p:nvPr/>
        </p:nvSpPr>
        <p:spPr bwMode="auto">
          <a:xfrm>
            <a:off x="911258" y="1793133"/>
            <a:ext cx="10369484" cy="4616648"/>
          </a:xfrm>
          <a:prstGeom prst="rect">
            <a:avLst/>
          </a:prstGeom>
          <a:solidFill>
            <a:schemeClr val="tx1"/>
          </a:solidFill>
          <a:ln>
            <a:noFill/>
          </a:ln>
          <a:effectLst/>
        </p:spPr>
        <p:txBody>
          <a:bodyPr vert="horz" wrap="square" lIns="0" tIns="0" rIns="0" bIns="0" numCol="1" anchor="ctr" anchorCtr="0" compatLnSpc="1">
            <a:prstTxWarp prst="textNoShape">
              <a:avLst/>
            </a:prstTxWarp>
            <a:spAutoFit/>
          </a:bodyPr>
          <a:lstStyle/>
          <a:p>
            <a:pPr marL="85725" algn="l"/>
            <a:r>
              <a:rPr lang="en-US" sz="2000" b="0" i="0" dirty="0">
                <a:solidFill>
                  <a:srgbClr val="ECECEC"/>
                </a:solidFill>
                <a:effectLst/>
                <a:latin typeface="Söhne"/>
              </a:rPr>
              <a:t>In conclusion, the integration of Internet of Things (IoT) and Machine Learning (ML) technologies holds immense potential for revolutionizing the monitoring and management of smart cities. Through our comprehensive analysis and exploration of key research questions, we have uncovered valuable insights into optimizing ML algorithms, effective sensor configurations, predictive maintenance strategies, privacy and security challenges, reinforcement learning applications, and the role of edge computing.</a:t>
            </a:r>
          </a:p>
          <a:p>
            <a:pPr marL="85725" algn="l"/>
            <a:endParaRPr lang="en-US" sz="2000" b="0" i="0" dirty="0">
              <a:solidFill>
                <a:srgbClr val="ECECEC"/>
              </a:solidFill>
              <a:effectLst/>
              <a:latin typeface="Söhne"/>
            </a:endParaRPr>
          </a:p>
          <a:p>
            <a:pPr marL="85725" algn="l"/>
            <a:r>
              <a:rPr lang="en-US" sz="2000" b="0" i="0" dirty="0">
                <a:solidFill>
                  <a:srgbClr val="ECECEC"/>
                </a:solidFill>
                <a:effectLst/>
                <a:latin typeface="Söhne"/>
              </a:rPr>
              <a:t>Our findings underscore the importance of leveraging the synergies between IoT and ML to address the complex challenges facing modern urban environments. From optimizing resource allocation to predicting and preventing critical infrastructure failures, the integration of IoT and ML offers unprecedented opportunities to improve the sustainability, resilience, and livability of smart cities.</a:t>
            </a:r>
          </a:p>
          <a:p>
            <a:pPr marL="85725" algn="l"/>
            <a:endParaRPr lang="en-US" sz="2000" b="0" i="0" dirty="0">
              <a:solidFill>
                <a:srgbClr val="ECECEC"/>
              </a:solidFill>
              <a:effectLst/>
              <a:latin typeface="Söhne"/>
            </a:endParaRPr>
          </a:p>
          <a:p>
            <a:pPr marL="85725" algn="l"/>
            <a:r>
              <a:rPr lang="en-US" sz="2000" b="0" i="0" dirty="0">
                <a:solidFill>
                  <a:srgbClr val="ECECEC"/>
                </a:solidFill>
                <a:effectLst/>
                <a:latin typeface="Söhne"/>
              </a:rPr>
              <a:t>By continuing to innovate and collaborate across disciplines, we can unlock the full potential of IoT and ML technologies to create more sustainable, resilient, and equitable urban environments for future generations.</a:t>
            </a:r>
          </a:p>
        </p:txBody>
      </p:sp>
      <p:sp>
        <p:nvSpPr>
          <p:cNvPr id="12" name="Rectangle 8">
            <a:extLst>
              <a:ext uri="{FF2B5EF4-FFF2-40B4-BE49-F238E27FC236}">
                <a16:creationId xmlns:a16="http://schemas.microsoft.com/office/drawing/2014/main" id="{7C836F1F-104D-7058-B962-AF87AEE4683E}"/>
              </a:ext>
            </a:extLst>
          </p:cNvPr>
          <p:cNvSpPr>
            <a:spLocks noChangeArrowheads="1"/>
          </p:cNvSpPr>
          <p:nvPr/>
        </p:nvSpPr>
        <p:spPr bwMode="auto">
          <a:xfrm>
            <a:off x="801277" y="3008501"/>
            <a:ext cx="91417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l-GR" altLang="el-GR" sz="1800" b="0" i="0" u="none" strike="noStrike" cap="none" normalizeH="0" baseline="0">
                <a:ln>
                  <a:noFill/>
                </a:ln>
                <a:solidFill>
                  <a:srgbClr val="FFFFFF"/>
                </a:solidFill>
                <a:effectLst/>
                <a:latin typeface="Söhne"/>
              </a:rPr>
            </a:br>
            <a:endParaRPr kumimoji="0" lang="el-GR" altLang="el-G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450095"/>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TM04033917[[fn=Βερολίνο]]</Template>
  <TotalTime>20</TotalTime>
  <Words>1349</Words>
  <Application>Microsoft Office PowerPoint</Application>
  <PresentationFormat>Ευρεία οθόνη</PresentationFormat>
  <Paragraphs>84</Paragraphs>
  <Slides>8</Slides>
  <Notes>0</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8</vt:i4>
      </vt:variant>
    </vt:vector>
  </HeadingPairs>
  <TitlesOfParts>
    <vt:vector size="13" baseType="lpstr">
      <vt:lpstr>Arial</vt:lpstr>
      <vt:lpstr>Calibri</vt:lpstr>
      <vt:lpstr>Calibri Light</vt:lpstr>
      <vt:lpstr>Söhne</vt:lpstr>
      <vt:lpstr>Θέμα του Office</vt:lpstr>
      <vt:lpstr>IoT and Machine  Learning for  the Monitoring  and Management of Smart Places</vt:lpstr>
      <vt:lpstr>Introduction</vt:lpstr>
      <vt:lpstr>Abstract</vt:lpstr>
      <vt:lpstr>Literature Review</vt:lpstr>
      <vt:lpstr>Method</vt:lpstr>
      <vt:lpstr>Results and Discussion</vt:lpstr>
      <vt:lpstr>Future Research Directions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and Machine  Learning for  the Monitoring  and Management of Smart Places</dc:title>
  <dc:creator>ΘΩΜΑΣ ΝΙΚΟΛΑΟΣ</dc:creator>
  <cp:lastModifiedBy>ΘΩΜΑΣ ΝΙΚΟΛΑΟΣ</cp:lastModifiedBy>
  <cp:revision>1</cp:revision>
  <dcterms:created xsi:type="dcterms:W3CDTF">2024-05-02T08:55:50Z</dcterms:created>
  <dcterms:modified xsi:type="dcterms:W3CDTF">2024-05-02T09:16:24Z</dcterms:modified>
</cp:coreProperties>
</file>